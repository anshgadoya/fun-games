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72" r:id="rId3"/>
    <p:sldId id="273" r:id="rId4"/>
    <p:sldId id="257" r:id="rId5"/>
    <p:sldId id="264" r:id="rId6"/>
    <p:sldId id="263" r:id="rId7"/>
    <p:sldId id="266" r:id="rId8"/>
    <p:sldId id="267" r:id="rId9"/>
    <p:sldId id="268" r:id="rId10"/>
    <p:sldId id="269" r:id="rId11"/>
    <p:sldId id="270" r:id="rId12"/>
    <p:sldId id="260" r:id="rId13"/>
    <p:sldId id="261" r:id="rId14"/>
    <p:sldId id="271" r:id="rId15"/>
    <p:sldId id="262" r:id="rId16"/>
  </p:sldIdLst>
  <p:sldSz cx="14630400" cy="8229600"/>
  <p:notesSz cx="8229600" cy="14630400"/>
  <p:embeddedFontLst>
    <p:embeddedFont>
      <p:font typeface="Nirmala UI" panose="020B0502040204020203" pitchFamily="34" charset="0"/>
      <p:regular r:id="rId18"/>
      <p:bold r:id="rId19"/>
    </p:embeddedFont>
    <p:embeddedFont>
      <p:font typeface="Nirmala UI Semilight" panose="020B0402040204020203" pitchFamily="34" charset="0"/>
      <p:regular r:id="rId20"/>
    </p:embeddedFont>
    <p:embeddedFont>
      <p:font typeface="Red Hat Text" panose="020B0604020202020204" charset="0"/>
      <p:regular r:id="rId21"/>
    </p:embeddedFont>
    <p:embeddedFont>
      <p:font typeface="Roboto Bold" panose="020B0604020202020204" charset="0"/>
      <p:bold r:id="rId22"/>
    </p:embeddedFont>
    <p:embeddedFont>
      <p:font typeface="Roboto Light" panose="02000000000000000000" pitchFamily="2" charset="0"/>
      <p:regular r:id="rId23"/>
      <p: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0767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1375" y="699611"/>
            <a:ext cx="7634049" cy="1430403"/>
          </a:xfrm>
          <a:prstGeom prst="rect">
            <a:avLst/>
          </a:prstGeom>
          <a:noFill/>
          <a:ln/>
        </p:spPr>
        <p:txBody>
          <a:bodyPr wrap="square" lIns="0" tIns="0" rIns="0" bIns="0" rtlCol="0" anchor="t"/>
          <a:lstStyle/>
          <a:p>
            <a:pPr marL="0" indent="0" algn="l">
              <a:lnSpc>
                <a:spcPts val="4950"/>
              </a:lnSpc>
              <a:buNone/>
            </a:pPr>
            <a:r>
              <a:rPr lang="en-US" sz="3950" dirty="0">
                <a:solidFill>
                  <a:srgbClr val="1F1E1E"/>
                </a:solidFill>
                <a:latin typeface="Red Hat Text" pitchFamily="34" charset="0"/>
                <a:ea typeface="Red Hat Text" pitchFamily="34" charset="-122"/>
                <a:cs typeface="Red Hat Text" pitchFamily="34" charset="-120"/>
              </a:rPr>
              <a:t>Fun Games : </a:t>
            </a:r>
            <a:r>
              <a:rPr lang="en-US" sz="4000" spc="-55" dirty="0"/>
              <a:t>Your</a:t>
            </a:r>
            <a:r>
              <a:rPr lang="en-US" sz="4000" spc="-110" dirty="0"/>
              <a:t> </a:t>
            </a:r>
            <a:r>
              <a:rPr lang="en-US" sz="4000" dirty="0"/>
              <a:t>Next</a:t>
            </a:r>
            <a:r>
              <a:rPr lang="en-US" sz="4000" spc="-90" dirty="0"/>
              <a:t> </a:t>
            </a:r>
            <a:r>
              <a:rPr lang="en-US" sz="4000" spc="-20" dirty="0"/>
              <a:t>Favorite </a:t>
            </a:r>
            <a:r>
              <a:rPr lang="en-US" sz="4000" dirty="0"/>
              <a:t>Gaming</a:t>
            </a:r>
            <a:r>
              <a:rPr lang="en-US" sz="4000" spc="-125" dirty="0"/>
              <a:t> </a:t>
            </a:r>
            <a:r>
              <a:rPr lang="en-US" sz="4000" spc="-25" dirty="0"/>
              <a:t>App</a:t>
            </a:r>
            <a:endParaRPr lang="en-US" sz="3950" dirty="0"/>
          </a:p>
        </p:txBody>
      </p:sp>
      <p:sp>
        <p:nvSpPr>
          <p:cNvPr id="4" name="Text 1"/>
          <p:cNvSpPr/>
          <p:nvPr/>
        </p:nvSpPr>
        <p:spPr>
          <a:xfrm>
            <a:off x="6248995" y="2393962"/>
            <a:ext cx="7634049" cy="1725811"/>
          </a:xfrm>
          <a:prstGeom prst="rect">
            <a:avLst/>
          </a:prstGeom>
          <a:noFill/>
          <a:ln/>
        </p:spPr>
        <p:txBody>
          <a:bodyPr wrap="square" lIns="0" tIns="0" rIns="0" bIns="0" rtlCol="0" anchor="t"/>
          <a:lstStyle/>
          <a:p>
            <a:pPr marL="0" indent="0" algn="l">
              <a:lnSpc>
                <a:spcPts val="2700"/>
              </a:lnSpc>
              <a:buNone/>
            </a:pPr>
            <a:r>
              <a:rPr lang="en-US" sz="1650" dirty="0">
                <a:solidFill>
                  <a:srgbClr val="3B3535"/>
                </a:solidFill>
                <a:latin typeface="Roboto Light" pitchFamily="34" charset="0"/>
                <a:ea typeface="Roboto Light" pitchFamily="34" charset="-122"/>
                <a:cs typeface="Roboto Light" pitchFamily="34" charset="-120"/>
              </a:rPr>
              <a:t>Welcome to the Fun Games !! This engaging app includes six interactive games designed to provide hours of entertainment for users of all ages. The collection features a simple, intuitive user interface, ensuring a seamless and enjoyable gaming experience. Dive in and explore a variety of challenges, from memory games to strategy classics.</a:t>
            </a:r>
            <a:endParaRPr lang="en-US" sz="1650" dirty="0"/>
          </a:p>
        </p:txBody>
      </p:sp>
      <p:sp>
        <p:nvSpPr>
          <p:cNvPr id="5" name="Text 2"/>
          <p:cNvSpPr/>
          <p:nvPr/>
        </p:nvSpPr>
        <p:spPr>
          <a:xfrm>
            <a:off x="6248995" y="4383721"/>
            <a:ext cx="7634049" cy="1380649"/>
          </a:xfrm>
          <a:prstGeom prst="rect">
            <a:avLst/>
          </a:prstGeom>
          <a:noFill/>
          <a:ln/>
        </p:spPr>
        <p:txBody>
          <a:bodyPr wrap="square" lIns="0" tIns="0" rIns="0" bIns="0" rtlCol="0" anchor="t"/>
          <a:lstStyle/>
          <a:p>
            <a:pPr marL="0" indent="0" algn="l">
              <a:lnSpc>
                <a:spcPts val="2700"/>
              </a:lnSpc>
              <a:buNone/>
            </a:pPr>
            <a:r>
              <a:rPr lang="en-US" sz="1650" dirty="0">
                <a:solidFill>
                  <a:srgbClr val="3B3535"/>
                </a:solidFill>
                <a:latin typeface="Roboto Light" pitchFamily="34" charset="0"/>
                <a:ea typeface="Roboto Light" pitchFamily="34" charset="-122"/>
                <a:cs typeface="Roboto Light" pitchFamily="34" charset="-120"/>
              </a:rPr>
              <a:t>Each game is crafted with attention to detail, offering smooth animations and responsive touch controls. Whether you're looking to sharpen your memory, test your color recognition skills, or engage in strategic gameplay, this collection has something for everyone. Get ready to embark on a fun-filled gaming adventure!</a:t>
            </a:r>
            <a:endParaRPr lang="en-US" sz="1650" dirty="0"/>
          </a:p>
        </p:txBody>
      </p:sp>
      <p:sp>
        <p:nvSpPr>
          <p:cNvPr id="6" name="Shape 3"/>
          <p:cNvSpPr/>
          <p:nvPr/>
        </p:nvSpPr>
        <p:spPr>
          <a:xfrm>
            <a:off x="6241375" y="7168515"/>
            <a:ext cx="345043" cy="345043"/>
          </a:xfrm>
          <a:prstGeom prst="roundRect">
            <a:avLst>
              <a:gd name="adj" fmla="val 26498395"/>
            </a:avLst>
          </a:prstGeom>
          <a:noFill/>
          <a:ln w="7620">
            <a:solidFill>
              <a:srgbClr val="FFFFFF"/>
            </a:solidFill>
            <a:prstDash val="solid"/>
          </a:ln>
        </p:spPr>
      </p:sp>
      <p:sp>
        <p:nvSpPr>
          <p:cNvPr id="8" name="Text 4"/>
          <p:cNvSpPr/>
          <p:nvPr/>
        </p:nvSpPr>
        <p:spPr>
          <a:xfrm>
            <a:off x="10652710" y="6802397"/>
            <a:ext cx="3222713" cy="1077277"/>
          </a:xfrm>
          <a:prstGeom prst="rect">
            <a:avLst/>
          </a:prstGeom>
          <a:noFill/>
          <a:ln/>
        </p:spPr>
        <p:txBody>
          <a:bodyPr wrap="none" lIns="0" tIns="0" rIns="0" bIns="0" rtlCol="0" anchor="t"/>
          <a:lstStyle/>
          <a:p>
            <a:pPr marL="0" indent="0" algn="l">
              <a:lnSpc>
                <a:spcPts val="2950"/>
              </a:lnSpc>
              <a:buNone/>
            </a:pPr>
            <a:r>
              <a:rPr lang="en-US" sz="2100" b="1" dirty="0">
                <a:solidFill>
                  <a:srgbClr val="3B3535"/>
                </a:solidFill>
                <a:latin typeface="Roboto Bold" pitchFamily="34" charset="0"/>
                <a:ea typeface="Roboto Bold" pitchFamily="34" charset="-122"/>
                <a:cs typeface="Roboto Bold" pitchFamily="34" charset="-120"/>
              </a:rPr>
              <a:t>-By</a:t>
            </a:r>
          </a:p>
          <a:p>
            <a:pPr marL="0" indent="0" algn="l">
              <a:lnSpc>
                <a:spcPts val="2950"/>
              </a:lnSpc>
              <a:buNone/>
            </a:pPr>
            <a:r>
              <a:rPr lang="en-US" sz="2100" b="1" dirty="0">
                <a:solidFill>
                  <a:srgbClr val="3B3535"/>
                </a:solidFill>
                <a:latin typeface="Roboto Bold" pitchFamily="34" charset="0"/>
                <a:ea typeface="Roboto Bold" pitchFamily="34" charset="-122"/>
                <a:cs typeface="Roboto Bold" pitchFamily="34" charset="-120"/>
              </a:rPr>
              <a:t>       Ansh Gadoya  [ 13 ] </a:t>
            </a:r>
          </a:p>
          <a:p>
            <a:pPr marL="0" indent="0" algn="l">
              <a:lnSpc>
                <a:spcPts val="2950"/>
              </a:lnSpc>
              <a:buNone/>
            </a:pPr>
            <a:r>
              <a:rPr lang="en-US" sz="2100" b="1" dirty="0">
                <a:solidFill>
                  <a:srgbClr val="3B3535"/>
                </a:solidFill>
                <a:latin typeface="Roboto Bold" pitchFamily="34" charset="0"/>
                <a:ea typeface="Roboto Bold" pitchFamily="34" charset="-122"/>
                <a:cs typeface="Roboto Bold" pitchFamily="34" charset="-120"/>
              </a:rPr>
              <a:t>       Bansil Pabari  [ 18 ] </a:t>
            </a:r>
          </a:p>
          <a:p>
            <a:pPr marL="0" indent="0" algn="l">
              <a:lnSpc>
                <a:spcPts val="2950"/>
              </a:lnSpc>
              <a:buNone/>
            </a:pPr>
            <a:r>
              <a:rPr lang="en-US" sz="2100" b="1" dirty="0">
                <a:solidFill>
                  <a:srgbClr val="3B3535"/>
                </a:solidFill>
                <a:latin typeface="Roboto Bold" pitchFamily="34" charset="0"/>
                <a:ea typeface="Roboto Bold" pitchFamily="34" charset="-122"/>
                <a:cs typeface="Roboto Bold" pitchFamily="34" charset="-120"/>
              </a:rPr>
              <a:t>    </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0EA1529-3ABD-80DB-54FE-03E05D5EC92B}"/>
              </a:ext>
            </a:extLst>
          </p:cNvPr>
          <p:cNvSpPr txBox="1"/>
          <p:nvPr/>
        </p:nvSpPr>
        <p:spPr>
          <a:xfrm>
            <a:off x="419548" y="914398"/>
            <a:ext cx="13167360" cy="5386090"/>
          </a:xfrm>
          <a:prstGeom prst="rect">
            <a:avLst/>
          </a:prstGeom>
          <a:noFill/>
        </p:spPr>
        <p:txBody>
          <a:bodyPr wrap="square">
            <a:spAutoFit/>
          </a:bodyPr>
          <a:lstStyle/>
          <a:p>
            <a:pPr>
              <a:buNone/>
            </a:pPr>
            <a:r>
              <a:rPr lang="en-US" sz="3200" b="1" dirty="0"/>
              <a:t>1. </a:t>
            </a:r>
            <a:r>
              <a:rPr lang="en-US" sz="3600" b="1" dirty="0"/>
              <a:t>Functional Requirements</a:t>
            </a:r>
          </a:p>
          <a:p>
            <a:pPr marL="342900" indent="-342900">
              <a:buFont typeface="+mj-lt"/>
              <a:buAutoNum type="alphaUcPeriod"/>
            </a:pPr>
            <a:r>
              <a:rPr lang="en-US" sz="2400" b="1" dirty="0"/>
              <a:t>General App Functionalities</a:t>
            </a:r>
            <a:r>
              <a:rPr lang="en-US" b="1" dirty="0"/>
              <a:t>:</a:t>
            </a:r>
          </a:p>
          <a:p>
            <a:pPr lvl="1">
              <a:buFont typeface="Arial" panose="020B0604020202020204" pitchFamily="34" charset="0"/>
              <a:buChar char="•"/>
            </a:pPr>
            <a:r>
              <a:rPr lang="en-US" sz="2000" dirty="0"/>
              <a:t>The app should allow users to select a game from the main menu.</a:t>
            </a:r>
          </a:p>
          <a:p>
            <a:pPr lvl="1">
              <a:buFont typeface="Arial" panose="020B0604020202020204" pitchFamily="34" charset="0"/>
              <a:buChar char="•"/>
            </a:pPr>
            <a:r>
              <a:rPr lang="en-US" sz="2000" dirty="0"/>
              <a:t>Each game should load properly when selected.</a:t>
            </a:r>
          </a:p>
          <a:p>
            <a:pPr lvl="1">
              <a:buFont typeface="Arial" panose="020B0604020202020204" pitchFamily="34" charset="0"/>
              <a:buChar char="•"/>
            </a:pPr>
            <a:r>
              <a:rPr lang="en-US" sz="2000" dirty="0"/>
              <a:t>The app should track and display scores (if applicable).</a:t>
            </a:r>
          </a:p>
          <a:p>
            <a:pPr lvl="1">
              <a:buFont typeface="Arial" panose="020B0604020202020204" pitchFamily="34" charset="0"/>
              <a:buChar char="•"/>
            </a:pPr>
            <a:r>
              <a:rPr lang="en-US" sz="2000" dirty="0"/>
              <a:t>A user should be able to restart or exit a game at any time.</a:t>
            </a:r>
          </a:p>
          <a:p>
            <a:pPr lvl="1">
              <a:buFont typeface="Arial" panose="020B0604020202020204" pitchFamily="34" charset="0"/>
              <a:buChar char="•"/>
            </a:pPr>
            <a:r>
              <a:rPr lang="en-US" sz="2000" dirty="0"/>
              <a:t>If a game has levels (like Color Hunt), the app should progress through levels accordingly.</a:t>
            </a:r>
          </a:p>
          <a:p>
            <a:pPr lvl="1">
              <a:buFont typeface="Arial" panose="020B0604020202020204" pitchFamily="34" charset="0"/>
              <a:buChar char="•"/>
            </a:pPr>
            <a:r>
              <a:rPr lang="en-US" sz="2000" dirty="0"/>
              <a:t>If a game involves lives (like Color Hunt), the app should update the heart icons accordingly.</a:t>
            </a:r>
          </a:p>
          <a:p>
            <a:pPr lvl="1">
              <a:buFont typeface="Arial" panose="020B0604020202020204" pitchFamily="34" charset="0"/>
              <a:buChar char="•"/>
            </a:pPr>
            <a:r>
              <a:rPr lang="en-US" sz="2000" dirty="0"/>
              <a:t>The app should return to the main menu after a game is over.</a:t>
            </a:r>
          </a:p>
          <a:p>
            <a:pPr marL="342900" indent="-342900">
              <a:buFont typeface="+mj-lt"/>
              <a:buAutoNum type="alphaUcPeriod"/>
            </a:pPr>
            <a:r>
              <a:rPr lang="en-US" sz="2400" b="1" dirty="0"/>
              <a:t>Game-Specific Functionalities</a:t>
            </a:r>
            <a:r>
              <a:rPr lang="en-US" b="1" dirty="0"/>
              <a:t>:</a:t>
            </a:r>
          </a:p>
          <a:p>
            <a:pPr lvl="1">
              <a:buFont typeface="Arial" panose="020B0604020202020204" pitchFamily="34" charset="0"/>
              <a:buChar char="•"/>
            </a:pPr>
            <a:r>
              <a:rPr lang="en-US" sz="2000" b="1" dirty="0"/>
              <a:t> Sound Memory (Simon Says):</a:t>
            </a:r>
            <a:r>
              <a:rPr lang="en-US" sz="2000" dirty="0"/>
              <a:t> The app should play a sequence of sounds that the user must repeat correctly.</a:t>
            </a:r>
          </a:p>
          <a:p>
            <a:pPr lvl="1">
              <a:buFont typeface="Arial" panose="020B0604020202020204" pitchFamily="34" charset="0"/>
              <a:buChar char="•"/>
            </a:pPr>
            <a:r>
              <a:rPr lang="en-US" sz="2000" b="1" dirty="0"/>
              <a:t> Color Hunt:</a:t>
            </a:r>
            <a:r>
              <a:rPr lang="en-US" sz="2000" dirty="0"/>
              <a:t> The app should highlight the correct color based on the difficulty level. Lives should decrease when the user selects the wrong color.</a:t>
            </a:r>
          </a:p>
          <a:p>
            <a:pPr lvl="1">
              <a:buFont typeface="Arial" panose="020B0604020202020204" pitchFamily="34" charset="0"/>
              <a:buChar char="•"/>
            </a:pPr>
            <a:r>
              <a:rPr lang="en-US" sz="2000" b="1" dirty="0"/>
              <a:t> Card Memory:</a:t>
            </a:r>
            <a:r>
              <a:rPr lang="en-US" sz="2000" dirty="0"/>
              <a:t> The app should display a grid of face-down cards that flip when tapped, checking for matching    pairs.</a:t>
            </a:r>
          </a:p>
          <a:p>
            <a:pPr lvl="1">
              <a:buFont typeface="Arial" panose="020B0604020202020204" pitchFamily="34" charset="0"/>
              <a:buChar char="•"/>
            </a:pPr>
            <a:r>
              <a:rPr lang="en-US" sz="2000" b="1" dirty="0"/>
              <a:t> Tic-Tac-Toe:</a:t>
            </a:r>
            <a:r>
              <a:rPr lang="en-US" sz="2000" dirty="0"/>
              <a:t> The app should allow two players to play alternately, checking for win/draw conditions.</a:t>
            </a:r>
          </a:p>
          <a:p>
            <a:pPr lvl="1">
              <a:buFont typeface="Arial" panose="020B0604020202020204" pitchFamily="34" charset="0"/>
              <a:buChar char="•"/>
            </a:pPr>
            <a:r>
              <a:rPr lang="en-US" sz="2000" b="1" dirty="0"/>
              <a:t> Word Search:</a:t>
            </a:r>
            <a:r>
              <a:rPr lang="en-US" sz="2000" dirty="0"/>
              <a:t> The app should generate a grid of letters with hidden words that the user must find</a:t>
            </a:r>
          </a:p>
        </p:txBody>
      </p:sp>
    </p:spTree>
    <p:extLst>
      <p:ext uri="{BB962C8B-B14F-4D97-AF65-F5344CB8AC3E}">
        <p14:creationId xmlns:p14="http://schemas.microsoft.com/office/powerpoint/2010/main" val="2883474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446E263-9377-200A-4536-B5CD2644A871}"/>
              </a:ext>
            </a:extLst>
          </p:cNvPr>
          <p:cNvSpPr txBox="1"/>
          <p:nvPr/>
        </p:nvSpPr>
        <p:spPr>
          <a:xfrm>
            <a:off x="484094" y="925158"/>
            <a:ext cx="13371756" cy="5539978"/>
          </a:xfrm>
          <a:prstGeom prst="rect">
            <a:avLst/>
          </a:prstGeom>
          <a:noFill/>
        </p:spPr>
        <p:txBody>
          <a:bodyPr wrap="square">
            <a:spAutoFit/>
          </a:bodyPr>
          <a:lstStyle/>
          <a:p>
            <a:pPr>
              <a:buNone/>
            </a:pPr>
            <a:r>
              <a:rPr lang="en-US" sz="3600" b="1" dirty="0"/>
              <a:t>2. Non-Functional Requirements</a:t>
            </a:r>
          </a:p>
          <a:p>
            <a:pPr marL="342900" indent="-342900">
              <a:buFont typeface="+mj-lt"/>
              <a:buAutoNum type="alphaUcPeriod"/>
            </a:pPr>
            <a:r>
              <a:rPr lang="en-US" sz="2400" b="1" dirty="0"/>
              <a:t>Performance Requirements</a:t>
            </a:r>
            <a:r>
              <a:rPr lang="en-US" b="1" dirty="0"/>
              <a:t>:</a:t>
            </a:r>
          </a:p>
          <a:p>
            <a:pPr lvl="1">
              <a:buFont typeface="Arial" panose="020B0604020202020204" pitchFamily="34" charset="0"/>
              <a:buChar char="•"/>
            </a:pPr>
            <a:r>
              <a:rPr lang="en-US" sz="2000" dirty="0"/>
              <a:t>The app should load games within </a:t>
            </a:r>
            <a:r>
              <a:rPr lang="en-US" sz="2000" b="1" dirty="0"/>
              <a:t>2-3 seconds</a:t>
            </a:r>
            <a:r>
              <a:rPr lang="en-US" sz="2000" dirty="0"/>
              <a:t> after selection.</a:t>
            </a:r>
          </a:p>
          <a:p>
            <a:pPr lvl="1">
              <a:buFont typeface="Arial" panose="020B0604020202020204" pitchFamily="34" charset="0"/>
              <a:buChar char="•"/>
            </a:pPr>
            <a:r>
              <a:rPr lang="en-US" sz="2000" dirty="0"/>
              <a:t>The animations and transitions should be smooth and not laggy.</a:t>
            </a:r>
          </a:p>
          <a:p>
            <a:pPr lvl="1">
              <a:buFont typeface="Arial" panose="020B0604020202020204" pitchFamily="34" charset="0"/>
              <a:buChar char="•"/>
            </a:pPr>
            <a:r>
              <a:rPr lang="en-US" sz="2000" dirty="0"/>
              <a:t>The response time for user interactions should be </a:t>
            </a:r>
            <a:r>
              <a:rPr lang="en-US" sz="2000" b="1" dirty="0"/>
              <a:t>less than 1 second</a:t>
            </a:r>
            <a:r>
              <a:rPr lang="en-US" sz="2000" dirty="0"/>
              <a:t>.</a:t>
            </a:r>
          </a:p>
          <a:p>
            <a:pPr marL="342900" indent="-342900">
              <a:buFont typeface="+mj-lt"/>
              <a:buAutoNum type="alphaUcPeriod"/>
            </a:pPr>
            <a:r>
              <a:rPr lang="en-US" sz="2400" b="1" dirty="0"/>
              <a:t>Usability Requirements</a:t>
            </a:r>
            <a:r>
              <a:rPr lang="en-US" b="1" dirty="0"/>
              <a:t>:</a:t>
            </a:r>
          </a:p>
          <a:p>
            <a:pPr lvl="1">
              <a:buFont typeface="Arial" panose="020B0604020202020204" pitchFamily="34" charset="0"/>
              <a:buChar char="•"/>
            </a:pPr>
            <a:r>
              <a:rPr lang="en-US" sz="2000" dirty="0"/>
              <a:t>The app should have an intuitive and easy-to-navigate UI.</a:t>
            </a:r>
          </a:p>
          <a:p>
            <a:pPr lvl="1">
              <a:buFont typeface="Arial" panose="020B0604020202020204" pitchFamily="34" charset="0"/>
              <a:buChar char="•"/>
            </a:pPr>
            <a:r>
              <a:rPr lang="en-US" sz="2000" dirty="0"/>
              <a:t>The text and UI elements should be readable and clear on all screen sizes.</a:t>
            </a:r>
          </a:p>
          <a:p>
            <a:pPr lvl="1">
              <a:buFont typeface="Arial" panose="020B0604020202020204" pitchFamily="34" charset="0"/>
              <a:buChar char="•"/>
            </a:pPr>
            <a:r>
              <a:rPr lang="en-US" sz="2000" dirty="0"/>
              <a:t>The color scheme should be visually appealing and not strain the eyes.</a:t>
            </a:r>
          </a:p>
          <a:p>
            <a:pPr marL="457200" indent="-457200">
              <a:buFont typeface="+mj-lt"/>
              <a:buAutoNum type="alphaUcPeriod"/>
            </a:pPr>
            <a:r>
              <a:rPr lang="en-US" sz="2400" b="1" dirty="0"/>
              <a:t>Reliability Requirements</a:t>
            </a:r>
            <a:r>
              <a:rPr lang="en-US" b="1" dirty="0"/>
              <a:t>:</a:t>
            </a:r>
          </a:p>
          <a:p>
            <a:pPr lvl="1">
              <a:buFont typeface="Arial" panose="020B0604020202020204" pitchFamily="34" charset="0"/>
              <a:buChar char="•"/>
            </a:pPr>
            <a:r>
              <a:rPr lang="en-US" sz="2000" dirty="0"/>
              <a:t>The app should not crash when switching between games.</a:t>
            </a:r>
          </a:p>
          <a:p>
            <a:pPr marL="457200" indent="-457200">
              <a:buFont typeface="+mj-lt"/>
              <a:buAutoNum type="alphaUcPeriod"/>
            </a:pPr>
            <a:r>
              <a:rPr lang="en-US" sz="2400" b="1" dirty="0"/>
              <a:t>Security Requirements:</a:t>
            </a:r>
          </a:p>
          <a:p>
            <a:pPr lvl="1">
              <a:buFont typeface="Arial" panose="020B0604020202020204" pitchFamily="34" charset="0"/>
              <a:buChar char="•"/>
            </a:pPr>
            <a:r>
              <a:rPr lang="en-US" sz="2000" dirty="0"/>
              <a:t>The app should not require any sensitive user data.</a:t>
            </a:r>
          </a:p>
          <a:p>
            <a:pPr lvl="1">
              <a:buFont typeface="Arial" panose="020B0604020202020204" pitchFamily="34" charset="0"/>
              <a:buChar char="•"/>
            </a:pPr>
            <a:r>
              <a:rPr lang="en-US" sz="2000" dirty="0"/>
              <a:t>Any saved game data should be stored securely.</a:t>
            </a:r>
          </a:p>
          <a:p>
            <a:pPr marL="457200" indent="-457200">
              <a:buFont typeface="+mj-lt"/>
              <a:buAutoNum type="alphaUcPeriod"/>
            </a:pPr>
            <a:r>
              <a:rPr lang="en-US" sz="2400" b="1" dirty="0"/>
              <a:t>Portability &amp; Compatibility Requirements:</a:t>
            </a:r>
          </a:p>
          <a:p>
            <a:pPr lvl="1">
              <a:buFont typeface="Arial" panose="020B0604020202020204" pitchFamily="34" charset="0"/>
              <a:buChar char="•"/>
            </a:pPr>
            <a:r>
              <a:rPr lang="en-US" sz="2000" dirty="0"/>
              <a:t>The app should run smoothly on Android devices with </a:t>
            </a:r>
            <a:r>
              <a:rPr lang="en-US" sz="2000" b="1" dirty="0"/>
              <a:t>Android 11.0 (Red Velvet Cake) and above</a:t>
            </a:r>
            <a:r>
              <a:rPr lang="en-US" sz="2000" dirty="0"/>
              <a:t>.</a:t>
            </a:r>
          </a:p>
        </p:txBody>
      </p:sp>
    </p:spTree>
    <p:extLst>
      <p:ext uri="{BB962C8B-B14F-4D97-AF65-F5344CB8AC3E}">
        <p14:creationId xmlns:p14="http://schemas.microsoft.com/office/powerpoint/2010/main" val="3456651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9828" y="416243"/>
            <a:ext cx="8614172" cy="906948"/>
          </a:xfrm>
          <a:prstGeom prst="rect">
            <a:avLst/>
          </a:prstGeom>
          <a:noFill/>
          <a:ln/>
        </p:spPr>
        <p:txBody>
          <a:bodyPr wrap="none" lIns="0" tIns="0" rIns="0" bIns="0" rtlCol="0" anchor="t"/>
          <a:lstStyle/>
          <a:p>
            <a:pPr marL="0" indent="0" algn="l">
              <a:lnSpc>
                <a:spcPts val="3500"/>
              </a:lnSpc>
              <a:buNone/>
            </a:pPr>
            <a:r>
              <a:rPr lang="en-US" sz="4000" dirty="0">
                <a:solidFill>
                  <a:srgbClr val="1F1E1E"/>
                </a:solidFill>
                <a:latin typeface="Red Hat Text" pitchFamily="34" charset="0"/>
                <a:ea typeface="Red Hat Text" pitchFamily="34" charset="-122"/>
                <a:cs typeface="Red Hat Text" pitchFamily="34" charset="-120"/>
              </a:rPr>
              <a:t>User Interface Design: </a:t>
            </a:r>
          </a:p>
        </p:txBody>
      </p:sp>
      <p:sp>
        <p:nvSpPr>
          <p:cNvPr id="5" name="Text 2"/>
          <p:cNvSpPr/>
          <p:nvPr/>
        </p:nvSpPr>
        <p:spPr>
          <a:xfrm>
            <a:off x="529828" y="2656870"/>
            <a:ext cx="6707366" cy="1108037"/>
          </a:xfrm>
          <a:prstGeom prst="rect">
            <a:avLst/>
          </a:prstGeom>
          <a:noFill/>
          <a:ln/>
        </p:spPr>
        <p:txBody>
          <a:bodyPr wrap="square" lIns="0" tIns="0" rIns="0" bIns="0" rtlCol="0" anchor="t"/>
          <a:lstStyle/>
          <a:p>
            <a:pPr marL="0" indent="0" algn="l">
              <a:buNone/>
            </a:pPr>
            <a:r>
              <a:rPr lang="en-US" sz="2200" dirty="0">
                <a:solidFill>
                  <a:srgbClr val="3B3535"/>
                </a:solidFill>
                <a:latin typeface="Roboto Light" pitchFamily="34" charset="0"/>
                <a:ea typeface="Roboto Light" pitchFamily="34" charset="-122"/>
                <a:cs typeface="Roboto Light" pitchFamily="34" charset="-120"/>
              </a:rPr>
              <a:t>Features a minimalist design with a grid of hidden sound icons. Players match unique sounds to win, with an interface designed for ease of use.</a:t>
            </a:r>
            <a:endParaRPr lang="en-US" sz="2200" dirty="0"/>
          </a:p>
        </p:txBody>
      </p:sp>
      <p:sp>
        <p:nvSpPr>
          <p:cNvPr id="17" name="Text 13"/>
          <p:cNvSpPr/>
          <p:nvPr/>
        </p:nvSpPr>
        <p:spPr>
          <a:xfrm>
            <a:off x="529828" y="8403431"/>
            <a:ext cx="13570744" cy="242054"/>
          </a:xfrm>
          <a:prstGeom prst="rect">
            <a:avLst/>
          </a:prstGeom>
          <a:noFill/>
          <a:ln/>
        </p:spPr>
        <p:txBody>
          <a:bodyPr wrap="none" lIns="0" tIns="0" rIns="0" bIns="0" rtlCol="0" anchor="t"/>
          <a:lstStyle/>
          <a:p>
            <a:pPr marL="0" indent="0" algn="l">
              <a:lnSpc>
                <a:spcPts val="1900"/>
              </a:lnSpc>
              <a:buNone/>
            </a:pPr>
            <a:r>
              <a:rPr lang="en-US" sz="1150" dirty="0">
                <a:solidFill>
                  <a:srgbClr val="3B3535"/>
                </a:solidFill>
                <a:latin typeface="Roboto Light" pitchFamily="34" charset="0"/>
                <a:ea typeface="Roboto Light" pitchFamily="34" charset="-122"/>
                <a:cs typeface="Roboto Light" pitchFamily="34" charset="-120"/>
              </a:rPr>
              <a:t>Both games feature touch responsiveness and smooth animations for a seamless user experience. The design prioritizes clarity and simplicity.</a:t>
            </a:r>
            <a:endParaRPr lang="en-US" sz="1150" dirty="0"/>
          </a:p>
        </p:txBody>
      </p:sp>
      <p:pic>
        <p:nvPicPr>
          <p:cNvPr id="20" name="Picture 19">
            <a:extLst>
              <a:ext uri="{FF2B5EF4-FFF2-40B4-BE49-F238E27FC236}">
                <a16:creationId xmlns:a16="http://schemas.microsoft.com/office/drawing/2014/main" id="{9B4ACBD7-6017-978E-EA65-F3135F9C2823}"/>
              </a:ext>
            </a:extLst>
          </p:cNvPr>
          <p:cNvPicPr>
            <a:picLocks noChangeAspect="1"/>
          </p:cNvPicPr>
          <p:nvPr/>
        </p:nvPicPr>
        <p:blipFill>
          <a:blip r:embed="rId3"/>
          <a:srcRect t="5058" b="1699"/>
          <a:stretch/>
        </p:blipFill>
        <p:spPr>
          <a:xfrm>
            <a:off x="9240824" y="236670"/>
            <a:ext cx="3863340" cy="7673509"/>
          </a:xfrm>
          <a:prstGeom prst="rect">
            <a:avLst/>
          </a:prstGeom>
          <a:effectLst>
            <a:glow rad="508000">
              <a:schemeClr val="accent1">
                <a:alpha val="40000"/>
              </a:schemeClr>
            </a:glow>
          </a:effectLst>
        </p:spPr>
      </p:pic>
      <p:sp>
        <p:nvSpPr>
          <p:cNvPr id="22" name="TextBox 21">
            <a:extLst>
              <a:ext uri="{FF2B5EF4-FFF2-40B4-BE49-F238E27FC236}">
                <a16:creationId xmlns:a16="http://schemas.microsoft.com/office/drawing/2014/main" id="{33BE900D-6B98-92D5-332B-843AB9B4F63A}"/>
              </a:ext>
            </a:extLst>
          </p:cNvPr>
          <p:cNvSpPr txBox="1"/>
          <p:nvPr/>
        </p:nvSpPr>
        <p:spPr>
          <a:xfrm>
            <a:off x="529828" y="1712358"/>
            <a:ext cx="7315200" cy="555345"/>
          </a:xfrm>
          <a:prstGeom prst="rect">
            <a:avLst/>
          </a:prstGeom>
          <a:noFill/>
        </p:spPr>
        <p:txBody>
          <a:bodyPr wrap="square">
            <a:spAutoFit/>
          </a:bodyPr>
          <a:lstStyle/>
          <a:p>
            <a:pPr marL="0" indent="0" algn="l">
              <a:lnSpc>
                <a:spcPts val="3500"/>
              </a:lnSpc>
              <a:buNone/>
            </a:pPr>
            <a:r>
              <a:rPr lang="en-US" sz="3600" dirty="0">
                <a:solidFill>
                  <a:srgbClr val="1F1E1E"/>
                </a:solidFill>
                <a:latin typeface="Red Hat Text" pitchFamily="34" charset="0"/>
                <a:ea typeface="Red Hat Text" pitchFamily="34" charset="-122"/>
                <a:cs typeface="Red Hat Text" pitchFamily="34" charset="-120"/>
              </a:rPr>
              <a:t>Sound Memory</a:t>
            </a:r>
            <a:endParaRPr lang="en-US" sz="3600" dirty="0"/>
          </a:p>
        </p:txBody>
      </p:sp>
      <p:pic>
        <p:nvPicPr>
          <p:cNvPr id="26" name="Picture 25">
            <a:extLst>
              <a:ext uri="{FF2B5EF4-FFF2-40B4-BE49-F238E27FC236}">
                <a16:creationId xmlns:a16="http://schemas.microsoft.com/office/drawing/2014/main" id="{8C56439C-2EC9-6932-30B1-20B400357DA2}"/>
              </a:ext>
            </a:extLst>
          </p:cNvPr>
          <p:cNvPicPr>
            <a:picLocks noChangeAspect="1"/>
          </p:cNvPicPr>
          <p:nvPr/>
        </p:nvPicPr>
        <p:blipFill>
          <a:blip r:embed="rId4"/>
          <a:stretch>
            <a:fillRect/>
          </a:stretch>
        </p:blipFill>
        <p:spPr>
          <a:xfrm>
            <a:off x="529828" y="4216784"/>
            <a:ext cx="6946515" cy="34574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E57916-943A-730F-45DD-F76A3A0A53EF}"/>
              </a:ext>
            </a:extLst>
          </p:cNvPr>
          <p:cNvPicPr>
            <a:picLocks noChangeAspect="1"/>
          </p:cNvPicPr>
          <p:nvPr/>
        </p:nvPicPr>
        <p:blipFill>
          <a:blip r:embed="rId2"/>
          <a:stretch>
            <a:fillRect/>
          </a:stretch>
        </p:blipFill>
        <p:spPr>
          <a:xfrm>
            <a:off x="7315200" y="2431227"/>
            <a:ext cx="7076140" cy="3980329"/>
          </a:xfrm>
          <a:prstGeom prst="rect">
            <a:avLst/>
          </a:prstGeom>
        </p:spPr>
      </p:pic>
      <p:pic>
        <p:nvPicPr>
          <p:cNvPr id="5" name="Picture 4">
            <a:extLst>
              <a:ext uri="{FF2B5EF4-FFF2-40B4-BE49-F238E27FC236}">
                <a16:creationId xmlns:a16="http://schemas.microsoft.com/office/drawing/2014/main" id="{9704B4F1-49AB-582B-6A9C-C2289E787B97}"/>
              </a:ext>
            </a:extLst>
          </p:cNvPr>
          <p:cNvPicPr>
            <a:picLocks noChangeAspect="1"/>
          </p:cNvPicPr>
          <p:nvPr/>
        </p:nvPicPr>
        <p:blipFill>
          <a:blip r:embed="rId3"/>
          <a:stretch>
            <a:fillRect/>
          </a:stretch>
        </p:blipFill>
        <p:spPr>
          <a:xfrm>
            <a:off x="107577" y="2431227"/>
            <a:ext cx="7076140" cy="3980329"/>
          </a:xfrm>
          <a:prstGeom prst="rect">
            <a:avLst/>
          </a:prstGeom>
        </p:spPr>
      </p:pic>
      <p:sp>
        <p:nvSpPr>
          <p:cNvPr id="6" name="TextBox 5">
            <a:extLst>
              <a:ext uri="{FF2B5EF4-FFF2-40B4-BE49-F238E27FC236}">
                <a16:creationId xmlns:a16="http://schemas.microsoft.com/office/drawing/2014/main" id="{420B7219-C28A-FBC3-CE04-1A2E2B266D80}"/>
              </a:ext>
            </a:extLst>
          </p:cNvPr>
          <p:cNvSpPr txBox="1"/>
          <p:nvPr/>
        </p:nvSpPr>
        <p:spPr>
          <a:xfrm>
            <a:off x="774551" y="968188"/>
            <a:ext cx="3818964" cy="369332"/>
          </a:xfrm>
          <a:prstGeom prst="rect">
            <a:avLst/>
          </a:prstGeom>
          <a:noFill/>
        </p:spPr>
        <p:txBody>
          <a:bodyPr wrap="square" rtlCol="0">
            <a:spAutoFit/>
          </a:bodyPr>
          <a:lstStyle/>
          <a:p>
            <a:r>
              <a:rPr lang="en-IN" dirty="0"/>
              <a:t>XML code snippet:</a:t>
            </a:r>
          </a:p>
        </p:txBody>
      </p:sp>
      <p:sp>
        <p:nvSpPr>
          <p:cNvPr id="7" name="TextBox 6">
            <a:extLst>
              <a:ext uri="{FF2B5EF4-FFF2-40B4-BE49-F238E27FC236}">
                <a16:creationId xmlns:a16="http://schemas.microsoft.com/office/drawing/2014/main" id="{D29EBA5D-7A8C-548C-617B-1F18710EDE85}"/>
              </a:ext>
            </a:extLst>
          </p:cNvPr>
          <p:cNvSpPr txBox="1"/>
          <p:nvPr/>
        </p:nvSpPr>
        <p:spPr>
          <a:xfrm>
            <a:off x="8127405" y="968188"/>
            <a:ext cx="3818964" cy="369332"/>
          </a:xfrm>
          <a:prstGeom prst="rect">
            <a:avLst/>
          </a:prstGeom>
          <a:noFill/>
        </p:spPr>
        <p:txBody>
          <a:bodyPr wrap="square" rtlCol="0">
            <a:spAutoFit/>
          </a:bodyPr>
          <a:lstStyle/>
          <a:p>
            <a:r>
              <a:rPr lang="en-IN" dirty="0"/>
              <a:t>JAVA code snippet:</a:t>
            </a:r>
          </a:p>
        </p:txBody>
      </p:sp>
      <p:sp>
        <p:nvSpPr>
          <p:cNvPr id="8" name="TextBox 7">
            <a:extLst>
              <a:ext uri="{FF2B5EF4-FFF2-40B4-BE49-F238E27FC236}">
                <a16:creationId xmlns:a16="http://schemas.microsoft.com/office/drawing/2014/main" id="{654B2482-E462-1293-16D5-D00E59AE0635}"/>
              </a:ext>
            </a:extLst>
          </p:cNvPr>
          <p:cNvSpPr txBox="1"/>
          <p:nvPr/>
        </p:nvSpPr>
        <p:spPr>
          <a:xfrm>
            <a:off x="411494" y="260076"/>
            <a:ext cx="7315200" cy="555345"/>
          </a:xfrm>
          <a:prstGeom prst="rect">
            <a:avLst/>
          </a:prstGeom>
          <a:noFill/>
        </p:spPr>
        <p:txBody>
          <a:bodyPr wrap="square">
            <a:spAutoFit/>
          </a:bodyPr>
          <a:lstStyle/>
          <a:p>
            <a:pPr marL="0" indent="0" algn="l">
              <a:lnSpc>
                <a:spcPts val="3500"/>
              </a:lnSpc>
              <a:buNone/>
            </a:pPr>
            <a:r>
              <a:rPr lang="en-US" sz="3600" dirty="0">
                <a:solidFill>
                  <a:srgbClr val="1F1E1E"/>
                </a:solidFill>
                <a:latin typeface="Red Hat Text" pitchFamily="34" charset="0"/>
                <a:ea typeface="Red Hat Text" pitchFamily="34" charset="-122"/>
                <a:cs typeface="Red Hat Text" pitchFamily="34" charset="-120"/>
              </a:rPr>
              <a:t>Sound Memory</a:t>
            </a:r>
            <a:endParaRPr lang="en-US" sz="3600" dirty="0"/>
          </a:p>
        </p:txBody>
      </p:sp>
    </p:spTree>
    <p:extLst>
      <p:ext uri="{BB962C8B-B14F-4D97-AF65-F5344CB8AC3E}">
        <p14:creationId xmlns:p14="http://schemas.microsoft.com/office/powerpoint/2010/main" val="2234193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7"/>
          <p:cNvSpPr/>
          <p:nvPr/>
        </p:nvSpPr>
        <p:spPr>
          <a:xfrm>
            <a:off x="708898" y="1057038"/>
            <a:ext cx="2841126" cy="222647"/>
          </a:xfrm>
          <a:prstGeom prst="rect">
            <a:avLst/>
          </a:prstGeom>
          <a:noFill/>
          <a:ln/>
        </p:spPr>
        <p:txBody>
          <a:bodyPr wrap="none" lIns="0" tIns="0" rIns="0" bIns="0" rtlCol="0" anchor="t"/>
          <a:lstStyle/>
          <a:p>
            <a:pPr marL="0" indent="0" algn="l">
              <a:lnSpc>
                <a:spcPts val="1750"/>
              </a:lnSpc>
              <a:buNone/>
            </a:pPr>
            <a:r>
              <a:rPr lang="en-US" sz="3600" dirty="0"/>
              <a:t>Color Hunt</a:t>
            </a:r>
          </a:p>
        </p:txBody>
      </p:sp>
      <p:sp>
        <p:nvSpPr>
          <p:cNvPr id="12" name="Text 8"/>
          <p:cNvSpPr/>
          <p:nvPr/>
        </p:nvSpPr>
        <p:spPr>
          <a:xfrm>
            <a:off x="563164" y="2054711"/>
            <a:ext cx="6526125" cy="2054711"/>
          </a:xfrm>
          <a:prstGeom prst="rect">
            <a:avLst/>
          </a:prstGeom>
          <a:noFill/>
          <a:ln/>
        </p:spPr>
        <p:txBody>
          <a:bodyPr wrap="square" lIns="0" tIns="0" rIns="0" bIns="0" rtlCol="0" anchor="t"/>
          <a:lstStyle/>
          <a:p>
            <a:pPr marL="0" indent="0" algn="l" rtl="0" eaLnBrk="1" latinLnBrk="0" hangingPunct="1">
              <a:lnSpc>
                <a:spcPts val="2850"/>
              </a:lnSpc>
            </a:pPr>
            <a:r>
              <a:rPr lang="en-US" sz="2200" kern="1200" dirty="0">
                <a:solidFill>
                  <a:srgbClr val="3B3535"/>
                </a:solidFill>
                <a:effectLst/>
                <a:latin typeface="Roboto Light" panose="02000000000000000000" pitchFamily="2" charset="0"/>
                <a:ea typeface="Roboto Light" panose="02000000000000000000" pitchFamily="2" charset="0"/>
                <a:cs typeface="Roboto Light" panose="02000000000000000000" pitchFamily="2" charset="0"/>
              </a:rPr>
              <a:t>Color Hunt features vibrant color blocks set in a timed challenge. Players must identify the correct color sequence within a limited time, testing their color recognition skills.</a:t>
            </a:r>
            <a:endParaRPr lang="en-IN" sz="2200" dirty="0">
              <a:effectLst/>
            </a:endParaRPr>
          </a:p>
        </p:txBody>
      </p:sp>
      <p:pic>
        <p:nvPicPr>
          <p:cNvPr id="3" name="Picture 2">
            <a:extLst>
              <a:ext uri="{FF2B5EF4-FFF2-40B4-BE49-F238E27FC236}">
                <a16:creationId xmlns:a16="http://schemas.microsoft.com/office/drawing/2014/main" id="{F3A3CDB2-6FC3-09B7-7C0D-5B0A372D82EF}"/>
              </a:ext>
            </a:extLst>
          </p:cNvPr>
          <p:cNvPicPr>
            <a:picLocks noChangeAspect="1"/>
          </p:cNvPicPr>
          <p:nvPr/>
        </p:nvPicPr>
        <p:blipFill>
          <a:blip r:embed="rId2"/>
          <a:srcRect t="4771" b="2027"/>
          <a:stretch/>
        </p:blipFill>
        <p:spPr>
          <a:xfrm>
            <a:off x="8905987" y="263563"/>
            <a:ext cx="3703320" cy="7670202"/>
          </a:xfrm>
          <a:prstGeom prst="rect">
            <a:avLst/>
          </a:prstGeom>
          <a:effectLst>
            <a:glow rad="508000">
              <a:schemeClr val="accent1">
                <a:alpha val="40000"/>
              </a:schemeClr>
            </a:glow>
          </a:effectLst>
        </p:spPr>
      </p:pic>
      <p:pic>
        <p:nvPicPr>
          <p:cNvPr id="5" name="Picture 4">
            <a:extLst>
              <a:ext uri="{FF2B5EF4-FFF2-40B4-BE49-F238E27FC236}">
                <a16:creationId xmlns:a16="http://schemas.microsoft.com/office/drawing/2014/main" id="{E3D4A805-69B9-01E1-0539-50FAEA3F3FFE}"/>
              </a:ext>
            </a:extLst>
          </p:cNvPr>
          <p:cNvPicPr>
            <a:picLocks noChangeAspect="1"/>
          </p:cNvPicPr>
          <p:nvPr/>
        </p:nvPicPr>
        <p:blipFill>
          <a:blip r:embed="rId3"/>
          <a:stretch>
            <a:fillRect/>
          </a:stretch>
        </p:blipFill>
        <p:spPr>
          <a:xfrm>
            <a:off x="463426" y="4311365"/>
            <a:ext cx="6625863" cy="3727048"/>
          </a:xfrm>
          <a:prstGeom prst="rect">
            <a:avLst/>
          </a:prstGeom>
        </p:spPr>
      </p:pic>
    </p:spTree>
    <p:extLst>
      <p:ext uri="{BB962C8B-B14F-4D97-AF65-F5344CB8AC3E}">
        <p14:creationId xmlns:p14="http://schemas.microsoft.com/office/powerpoint/2010/main" val="3263099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83513-1AAA-CFCC-1961-F6E1047633F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BEB5E98-8D75-0B0F-0E0C-1279C663B08A}"/>
              </a:ext>
            </a:extLst>
          </p:cNvPr>
          <p:cNvSpPr txBox="1"/>
          <p:nvPr/>
        </p:nvSpPr>
        <p:spPr>
          <a:xfrm>
            <a:off x="774551" y="968188"/>
            <a:ext cx="3818964" cy="369332"/>
          </a:xfrm>
          <a:prstGeom prst="rect">
            <a:avLst/>
          </a:prstGeom>
          <a:noFill/>
        </p:spPr>
        <p:txBody>
          <a:bodyPr wrap="square" rtlCol="0">
            <a:spAutoFit/>
          </a:bodyPr>
          <a:lstStyle/>
          <a:p>
            <a:r>
              <a:rPr lang="en-IN" dirty="0"/>
              <a:t>XML code snippet:</a:t>
            </a:r>
          </a:p>
        </p:txBody>
      </p:sp>
      <p:sp>
        <p:nvSpPr>
          <p:cNvPr id="7" name="TextBox 6">
            <a:extLst>
              <a:ext uri="{FF2B5EF4-FFF2-40B4-BE49-F238E27FC236}">
                <a16:creationId xmlns:a16="http://schemas.microsoft.com/office/drawing/2014/main" id="{B73B501A-E907-BDA3-B835-5FAF2FD04B6E}"/>
              </a:ext>
            </a:extLst>
          </p:cNvPr>
          <p:cNvSpPr txBox="1"/>
          <p:nvPr/>
        </p:nvSpPr>
        <p:spPr>
          <a:xfrm>
            <a:off x="8127405" y="968188"/>
            <a:ext cx="3818964" cy="369332"/>
          </a:xfrm>
          <a:prstGeom prst="rect">
            <a:avLst/>
          </a:prstGeom>
          <a:noFill/>
        </p:spPr>
        <p:txBody>
          <a:bodyPr wrap="square" rtlCol="0">
            <a:spAutoFit/>
          </a:bodyPr>
          <a:lstStyle/>
          <a:p>
            <a:r>
              <a:rPr lang="en-IN" dirty="0"/>
              <a:t>JAVA code snippet:</a:t>
            </a:r>
          </a:p>
        </p:txBody>
      </p:sp>
      <p:sp>
        <p:nvSpPr>
          <p:cNvPr id="8" name="TextBox 7">
            <a:extLst>
              <a:ext uri="{FF2B5EF4-FFF2-40B4-BE49-F238E27FC236}">
                <a16:creationId xmlns:a16="http://schemas.microsoft.com/office/drawing/2014/main" id="{579790B2-AC03-BBF9-9C54-C1FEAD84367E}"/>
              </a:ext>
            </a:extLst>
          </p:cNvPr>
          <p:cNvSpPr txBox="1"/>
          <p:nvPr/>
        </p:nvSpPr>
        <p:spPr>
          <a:xfrm>
            <a:off x="411494" y="341101"/>
            <a:ext cx="7315200" cy="555345"/>
          </a:xfrm>
          <a:prstGeom prst="rect">
            <a:avLst/>
          </a:prstGeom>
          <a:noFill/>
        </p:spPr>
        <p:txBody>
          <a:bodyPr wrap="square">
            <a:spAutoFit/>
          </a:bodyPr>
          <a:lstStyle/>
          <a:p>
            <a:pPr marL="0" indent="0" algn="l">
              <a:lnSpc>
                <a:spcPts val="3500"/>
              </a:lnSpc>
              <a:buNone/>
            </a:pPr>
            <a:r>
              <a:rPr lang="en-US" sz="3600" dirty="0">
                <a:solidFill>
                  <a:srgbClr val="1F1E1E"/>
                </a:solidFill>
                <a:latin typeface="Red Hat Text" pitchFamily="34" charset="0"/>
                <a:ea typeface="Red Hat Text" pitchFamily="34" charset="-122"/>
                <a:cs typeface="Red Hat Text" pitchFamily="34" charset="-120"/>
              </a:rPr>
              <a:t>Color Hunt</a:t>
            </a:r>
            <a:endParaRPr lang="en-US" sz="3600" dirty="0"/>
          </a:p>
        </p:txBody>
      </p:sp>
      <p:pic>
        <p:nvPicPr>
          <p:cNvPr id="4" name="Picture 3">
            <a:extLst>
              <a:ext uri="{FF2B5EF4-FFF2-40B4-BE49-F238E27FC236}">
                <a16:creationId xmlns:a16="http://schemas.microsoft.com/office/drawing/2014/main" id="{3DBE2BE0-6920-2ED1-59CC-0AA9FBAC80D3}"/>
              </a:ext>
            </a:extLst>
          </p:cNvPr>
          <p:cNvPicPr>
            <a:picLocks noChangeAspect="1"/>
          </p:cNvPicPr>
          <p:nvPr/>
        </p:nvPicPr>
        <p:blipFill>
          <a:blip r:embed="rId2"/>
          <a:stretch>
            <a:fillRect/>
          </a:stretch>
        </p:blipFill>
        <p:spPr>
          <a:xfrm>
            <a:off x="7414934" y="2431227"/>
            <a:ext cx="7107889" cy="3998187"/>
          </a:xfrm>
          <a:prstGeom prst="rect">
            <a:avLst/>
          </a:prstGeom>
        </p:spPr>
      </p:pic>
      <p:pic>
        <p:nvPicPr>
          <p:cNvPr id="10" name="Picture 9">
            <a:extLst>
              <a:ext uri="{FF2B5EF4-FFF2-40B4-BE49-F238E27FC236}">
                <a16:creationId xmlns:a16="http://schemas.microsoft.com/office/drawing/2014/main" id="{42AD4B12-C993-997D-9FDC-69F62FF41B25}"/>
              </a:ext>
            </a:extLst>
          </p:cNvPr>
          <p:cNvPicPr>
            <a:picLocks noChangeAspect="1"/>
          </p:cNvPicPr>
          <p:nvPr/>
        </p:nvPicPr>
        <p:blipFill>
          <a:blip r:embed="rId3"/>
          <a:stretch>
            <a:fillRect/>
          </a:stretch>
        </p:blipFill>
        <p:spPr>
          <a:xfrm>
            <a:off x="107577" y="2431227"/>
            <a:ext cx="6955097" cy="3912242"/>
          </a:xfrm>
          <a:prstGeom prst="rect">
            <a:avLst/>
          </a:prstGeom>
        </p:spPr>
      </p:pic>
    </p:spTree>
    <p:extLst>
      <p:ext uri="{BB962C8B-B14F-4D97-AF65-F5344CB8AC3E}">
        <p14:creationId xmlns:p14="http://schemas.microsoft.com/office/powerpoint/2010/main" val="335512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26535-2BCC-81A3-33A3-B97FFD209EB3}"/>
            </a:ext>
          </a:extLst>
        </p:cNvPr>
        <p:cNvGrpSpPr/>
        <p:nvPr/>
      </p:nvGrpSpPr>
      <p:grpSpPr>
        <a:xfrm>
          <a:off x="0" y="0"/>
          <a:ext cx="0" cy="0"/>
          <a:chOff x="0" y="0"/>
          <a:chExt cx="0" cy="0"/>
        </a:xfrm>
      </p:grpSpPr>
      <p:sp>
        <p:nvSpPr>
          <p:cNvPr id="10" name="Text 7">
            <a:extLst>
              <a:ext uri="{FF2B5EF4-FFF2-40B4-BE49-F238E27FC236}">
                <a16:creationId xmlns:a16="http://schemas.microsoft.com/office/drawing/2014/main" id="{6DC475F5-62AA-6605-DDB4-F3FC608656D0}"/>
              </a:ext>
            </a:extLst>
          </p:cNvPr>
          <p:cNvSpPr/>
          <p:nvPr/>
        </p:nvSpPr>
        <p:spPr>
          <a:xfrm>
            <a:off x="708898" y="1057038"/>
            <a:ext cx="2841126" cy="222647"/>
          </a:xfrm>
          <a:prstGeom prst="rect">
            <a:avLst/>
          </a:prstGeom>
          <a:noFill/>
          <a:ln/>
        </p:spPr>
        <p:txBody>
          <a:bodyPr wrap="none" lIns="0" tIns="0" rIns="0" bIns="0" rtlCol="0" anchor="t"/>
          <a:lstStyle/>
          <a:p>
            <a:pPr marL="0" indent="0" algn="l">
              <a:lnSpc>
                <a:spcPts val="1750"/>
              </a:lnSpc>
              <a:buNone/>
            </a:pPr>
            <a:r>
              <a:rPr lang="en-US" sz="3600" dirty="0">
                <a:solidFill>
                  <a:srgbClr val="1F1E1E"/>
                </a:solidFill>
                <a:latin typeface="Red Hat Text" pitchFamily="34" charset="0"/>
                <a:ea typeface="Red Hat Text" pitchFamily="34" charset="-122"/>
                <a:cs typeface="Red Hat Text" pitchFamily="34" charset="-120"/>
              </a:rPr>
              <a:t>Card Memory</a:t>
            </a:r>
            <a:endParaRPr lang="en-US" sz="3600" dirty="0"/>
          </a:p>
        </p:txBody>
      </p:sp>
      <p:sp>
        <p:nvSpPr>
          <p:cNvPr id="12" name="Text 8">
            <a:extLst>
              <a:ext uri="{FF2B5EF4-FFF2-40B4-BE49-F238E27FC236}">
                <a16:creationId xmlns:a16="http://schemas.microsoft.com/office/drawing/2014/main" id="{BB07DB28-EA03-1DBF-F5E6-6211EB383D74}"/>
              </a:ext>
            </a:extLst>
          </p:cNvPr>
          <p:cNvSpPr/>
          <p:nvPr/>
        </p:nvSpPr>
        <p:spPr>
          <a:xfrm>
            <a:off x="563164" y="2054711"/>
            <a:ext cx="6526125" cy="1359821"/>
          </a:xfrm>
          <a:prstGeom prst="rect">
            <a:avLst/>
          </a:prstGeom>
          <a:noFill/>
          <a:ln/>
        </p:spPr>
        <p:txBody>
          <a:bodyPr wrap="square" lIns="0" tIns="0" rIns="0" bIns="0" rtlCol="0" anchor="t"/>
          <a:lstStyle/>
          <a:p>
            <a:pPr marL="0" indent="0" algn="l">
              <a:buNone/>
            </a:pPr>
            <a:r>
              <a:rPr lang="en-US" sz="2200" dirty="0">
                <a:solidFill>
                  <a:srgbClr val="3B3535"/>
                </a:solidFill>
                <a:latin typeface="Roboto Light" pitchFamily="34" charset="0"/>
                <a:ea typeface="Roboto Light" pitchFamily="34" charset="-122"/>
                <a:cs typeface="Roboto Light" pitchFamily="34" charset="-120"/>
              </a:rPr>
              <a:t>A classic card layout with colorful graphics. Players match pairs to clear the board. The visual appeal enhances the gaming experience.</a:t>
            </a:r>
            <a:endParaRPr lang="en-US" sz="2200" dirty="0"/>
          </a:p>
        </p:txBody>
      </p:sp>
      <p:pic>
        <p:nvPicPr>
          <p:cNvPr id="4" name="Picture 3">
            <a:extLst>
              <a:ext uri="{FF2B5EF4-FFF2-40B4-BE49-F238E27FC236}">
                <a16:creationId xmlns:a16="http://schemas.microsoft.com/office/drawing/2014/main" id="{B6923F5C-4BCD-0665-D9EA-D82B22DEDE56}"/>
              </a:ext>
            </a:extLst>
          </p:cNvPr>
          <p:cNvPicPr>
            <a:picLocks noChangeAspect="1"/>
          </p:cNvPicPr>
          <p:nvPr/>
        </p:nvPicPr>
        <p:blipFill>
          <a:blip r:embed="rId2"/>
          <a:srcRect t="5064" b="2532"/>
          <a:stretch/>
        </p:blipFill>
        <p:spPr>
          <a:xfrm>
            <a:off x="9174148" y="312516"/>
            <a:ext cx="3682746" cy="7604567"/>
          </a:xfrm>
          <a:prstGeom prst="rect">
            <a:avLst/>
          </a:prstGeom>
          <a:effectLst>
            <a:glow rad="533400">
              <a:schemeClr val="accent1">
                <a:alpha val="40000"/>
              </a:schemeClr>
            </a:glow>
          </a:effectLst>
        </p:spPr>
      </p:pic>
      <p:pic>
        <p:nvPicPr>
          <p:cNvPr id="7" name="Picture 6">
            <a:extLst>
              <a:ext uri="{FF2B5EF4-FFF2-40B4-BE49-F238E27FC236}">
                <a16:creationId xmlns:a16="http://schemas.microsoft.com/office/drawing/2014/main" id="{5F9AB192-D5B7-9DBE-6942-8B9796F596D2}"/>
              </a:ext>
            </a:extLst>
          </p:cNvPr>
          <p:cNvPicPr>
            <a:picLocks noChangeAspect="1"/>
          </p:cNvPicPr>
          <p:nvPr/>
        </p:nvPicPr>
        <p:blipFill>
          <a:blip r:embed="rId3"/>
          <a:stretch>
            <a:fillRect/>
          </a:stretch>
        </p:blipFill>
        <p:spPr>
          <a:xfrm>
            <a:off x="563164" y="4114800"/>
            <a:ext cx="6377651" cy="3587429"/>
          </a:xfrm>
          <a:prstGeom prst="rect">
            <a:avLst/>
          </a:prstGeom>
        </p:spPr>
      </p:pic>
    </p:spTree>
    <p:extLst>
      <p:ext uri="{BB962C8B-B14F-4D97-AF65-F5344CB8AC3E}">
        <p14:creationId xmlns:p14="http://schemas.microsoft.com/office/powerpoint/2010/main" val="2109512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551BD-CFC0-F462-CBBD-00DBCE64568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AB8B636-1D89-40B9-05B7-FD5DA1F9980D}"/>
              </a:ext>
            </a:extLst>
          </p:cNvPr>
          <p:cNvSpPr txBox="1"/>
          <p:nvPr/>
        </p:nvSpPr>
        <p:spPr>
          <a:xfrm>
            <a:off x="774551" y="968188"/>
            <a:ext cx="3818964" cy="369332"/>
          </a:xfrm>
          <a:prstGeom prst="rect">
            <a:avLst/>
          </a:prstGeom>
          <a:noFill/>
        </p:spPr>
        <p:txBody>
          <a:bodyPr wrap="square" rtlCol="0">
            <a:spAutoFit/>
          </a:bodyPr>
          <a:lstStyle/>
          <a:p>
            <a:r>
              <a:rPr lang="en-IN" dirty="0"/>
              <a:t>XML code snippet:</a:t>
            </a:r>
          </a:p>
        </p:txBody>
      </p:sp>
      <p:sp>
        <p:nvSpPr>
          <p:cNvPr id="7" name="TextBox 6">
            <a:extLst>
              <a:ext uri="{FF2B5EF4-FFF2-40B4-BE49-F238E27FC236}">
                <a16:creationId xmlns:a16="http://schemas.microsoft.com/office/drawing/2014/main" id="{79B67115-B115-D34F-8D8D-C122F64FD9A0}"/>
              </a:ext>
            </a:extLst>
          </p:cNvPr>
          <p:cNvSpPr txBox="1"/>
          <p:nvPr/>
        </p:nvSpPr>
        <p:spPr>
          <a:xfrm>
            <a:off x="8127405" y="968188"/>
            <a:ext cx="3818964" cy="369332"/>
          </a:xfrm>
          <a:prstGeom prst="rect">
            <a:avLst/>
          </a:prstGeom>
          <a:noFill/>
        </p:spPr>
        <p:txBody>
          <a:bodyPr wrap="square" rtlCol="0">
            <a:spAutoFit/>
          </a:bodyPr>
          <a:lstStyle/>
          <a:p>
            <a:r>
              <a:rPr lang="en-IN" dirty="0"/>
              <a:t>JAVA code snippet:</a:t>
            </a:r>
          </a:p>
        </p:txBody>
      </p:sp>
      <p:sp>
        <p:nvSpPr>
          <p:cNvPr id="8" name="TextBox 7">
            <a:extLst>
              <a:ext uri="{FF2B5EF4-FFF2-40B4-BE49-F238E27FC236}">
                <a16:creationId xmlns:a16="http://schemas.microsoft.com/office/drawing/2014/main" id="{188C299F-92CA-5BEA-3171-746AADF8691E}"/>
              </a:ext>
            </a:extLst>
          </p:cNvPr>
          <p:cNvSpPr txBox="1"/>
          <p:nvPr/>
        </p:nvSpPr>
        <p:spPr>
          <a:xfrm>
            <a:off x="411494" y="260076"/>
            <a:ext cx="7315200" cy="555345"/>
          </a:xfrm>
          <a:prstGeom prst="rect">
            <a:avLst/>
          </a:prstGeom>
          <a:noFill/>
        </p:spPr>
        <p:txBody>
          <a:bodyPr wrap="square">
            <a:spAutoFit/>
          </a:bodyPr>
          <a:lstStyle/>
          <a:p>
            <a:pPr marL="0" indent="0" algn="l">
              <a:lnSpc>
                <a:spcPts val="3500"/>
              </a:lnSpc>
              <a:buNone/>
            </a:pPr>
            <a:r>
              <a:rPr lang="en-US" sz="3600" dirty="0">
                <a:solidFill>
                  <a:srgbClr val="1F1E1E"/>
                </a:solidFill>
                <a:latin typeface="Red Hat Text" pitchFamily="34" charset="0"/>
                <a:ea typeface="Red Hat Text" pitchFamily="34" charset="-122"/>
                <a:cs typeface="Red Hat Text" pitchFamily="34" charset="-120"/>
              </a:rPr>
              <a:t>Card Memory</a:t>
            </a:r>
            <a:endParaRPr lang="en-US" sz="3600" dirty="0"/>
          </a:p>
        </p:txBody>
      </p:sp>
      <p:pic>
        <p:nvPicPr>
          <p:cNvPr id="3" name="Picture 2">
            <a:extLst>
              <a:ext uri="{FF2B5EF4-FFF2-40B4-BE49-F238E27FC236}">
                <a16:creationId xmlns:a16="http://schemas.microsoft.com/office/drawing/2014/main" id="{84AC33EF-070D-A9DB-8DDE-36CE9B163C07}"/>
              </a:ext>
            </a:extLst>
          </p:cNvPr>
          <p:cNvPicPr>
            <a:picLocks noChangeAspect="1"/>
          </p:cNvPicPr>
          <p:nvPr/>
        </p:nvPicPr>
        <p:blipFill>
          <a:blip r:embed="rId2"/>
          <a:stretch>
            <a:fillRect/>
          </a:stretch>
        </p:blipFill>
        <p:spPr>
          <a:xfrm>
            <a:off x="7567726" y="2431227"/>
            <a:ext cx="6955097" cy="3912242"/>
          </a:xfrm>
          <a:prstGeom prst="rect">
            <a:avLst/>
          </a:prstGeom>
        </p:spPr>
      </p:pic>
      <p:pic>
        <p:nvPicPr>
          <p:cNvPr id="9" name="Picture 8">
            <a:extLst>
              <a:ext uri="{FF2B5EF4-FFF2-40B4-BE49-F238E27FC236}">
                <a16:creationId xmlns:a16="http://schemas.microsoft.com/office/drawing/2014/main" id="{3246647B-2E81-A076-28D7-48F693FF4178}"/>
              </a:ext>
            </a:extLst>
          </p:cNvPr>
          <p:cNvPicPr>
            <a:picLocks noChangeAspect="1"/>
          </p:cNvPicPr>
          <p:nvPr/>
        </p:nvPicPr>
        <p:blipFill>
          <a:blip r:embed="rId3"/>
          <a:stretch>
            <a:fillRect/>
          </a:stretch>
        </p:blipFill>
        <p:spPr>
          <a:xfrm>
            <a:off x="142303" y="2431228"/>
            <a:ext cx="6955097" cy="3912242"/>
          </a:xfrm>
          <a:prstGeom prst="rect">
            <a:avLst/>
          </a:prstGeom>
        </p:spPr>
      </p:pic>
    </p:spTree>
    <p:extLst>
      <p:ext uri="{BB962C8B-B14F-4D97-AF65-F5344CB8AC3E}">
        <p14:creationId xmlns:p14="http://schemas.microsoft.com/office/powerpoint/2010/main" val="2132598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701B1-F615-2F3B-3EF2-0A554102B64F}"/>
            </a:ext>
          </a:extLst>
        </p:cNvPr>
        <p:cNvGrpSpPr/>
        <p:nvPr/>
      </p:nvGrpSpPr>
      <p:grpSpPr>
        <a:xfrm>
          <a:off x="0" y="0"/>
          <a:ext cx="0" cy="0"/>
          <a:chOff x="0" y="0"/>
          <a:chExt cx="0" cy="0"/>
        </a:xfrm>
      </p:grpSpPr>
      <p:sp>
        <p:nvSpPr>
          <p:cNvPr id="10" name="Text 7">
            <a:extLst>
              <a:ext uri="{FF2B5EF4-FFF2-40B4-BE49-F238E27FC236}">
                <a16:creationId xmlns:a16="http://schemas.microsoft.com/office/drawing/2014/main" id="{C76AE569-F4E0-29A0-FC4A-714D71D972E3}"/>
              </a:ext>
            </a:extLst>
          </p:cNvPr>
          <p:cNvSpPr/>
          <p:nvPr/>
        </p:nvSpPr>
        <p:spPr>
          <a:xfrm>
            <a:off x="708898" y="1057038"/>
            <a:ext cx="2841126" cy="222647"/>
          </a:xfrm>
          <a:prstGeom prst="rect">
            <a:avLst/>
          </a:prstGeom>
          <a:noFill/>
          <a:ln/>
        </p:spPr>
        <p:txBody>
          <a:bodyPr wrap="none" lIns="0" tIns="0" rIns="0" bIns="0" rtlCol="0" anchor="t"/>
          <a:lstStyle/>
          <a:p>
            <a:pPr marL="0" indent="0" algn="l">
              <a:lnSpc>
                <a:spcPts val="1750"/>
              </a:lnSpc>
              <a:buNone/>
            </a:pPr>
            <a:r>
              <a:rPr lang="en-US" sz="3600" dirty="0">
                <a:solidFill>
                  <a:srgbClr val="1F1E1E"/>
                </a:solidFill>
                <a:latin typeface="Red Hat Text" pitchFamily="34" charset="0"/>
                <a:ea typeface="Red Hat Text" pitchFamily="34" charset="-122"/>
                <a:cs typeface="Red Hat Text" pitchFamily="34" charset="-120"/>
              </a:rPr>
              <a:t>Tic Tac Toe</a:t>
            </a:r>
            <a:endParaRPr lang="en-US" sz="3600" dirty="0"/>
          </a:p>
        </p:txBody>
      </p:sp>
      <p:sp>
        <p:nvSpPr>
          <p:cNvPr id="12" name="Text 8">
            <a:extLst>
              <a:ext uri="{FF2B5EF4-FFF2-40B4-BE49-F238E27FC236}">
                <a16:creationId xmlns:a16="http://schemas.microsoft.com/office/drawing/2014/main" id="{FA500097-2272-D0A2-2D2E-FE3584F924DE}"/>
              </a:ext>
            </a:extLst>
          </p:cNvPr>
          <p:cNvSpPr/>
          <p:nvPr/>
        </p:nvSpPr>
        <p:spPr>
          <a:xfrm>
            <a:off x="563164" y="1522275"/>
            <a:ext cx="6526125" cy="2592525"/>
          </a:xfrm>
          <a:prstGeom prst="rect">
            <a:avLst/>
          </a:prstGeom>
          <a:noFill/>
          <a:ln/>
        </p:spPr>
        <p:txBody>
          <a:bodyPr wrap="square" lIns="0" tIns="0" rIns="0" bIns="0" rtlCol="0" anchor="t"/>
          <a:lstStyle/>
          <a:p>
            <a:pPr marL="0" indent="0" algn="l">
              <a:lnSpc>
                <a:spcPts val="2850"/>
              </a:lnSpc>
              <a:buNone/>
            </a:pPr>
            <a:r>
              <a:rPr lang="en-US" sz="2400" dirty="0">
                <a:solidFill>
                  <a:srgbClr val="3B3535"/>
                </a:solidFill>
                <a:latin typeface="Roboto Light" pitchFamily="34" charset="0"/>
                <a:ea typeface="Roboto Light" pitchFamily="34" charset="-122"/>
                <a:cs typeface="Roboto Light" pitchFamily="34" charset="-120"/>
              </a:rPr>
              <a:t>Tic-Tac-Toe showcases a classic 3x3 grid with clear "X" and "O" visuals. The design is straightforward, making it easy for players to understand and enjoy the game.</a:t>
            </a:r>
          </a:p>
          <a:p>
            <a:pPr>
              <a:lnSpc>
                <a:spcPts val="2850"/>
              </a:lnSpc>
            </a:pPr>
            <a:r>
              <a:rPr lang="en-US" sz="2400" dirty="0">
                <a:solidFill>
                  <a:srgbClr val="3B3535"/>
                </a:solidFill>
                <a:latin typeface="Roboto Light" pitchFamily="34" charset="0"/>
                <a:ea typeface="Roboto Light" pitchFamily="34" charset="-122"/>
                <a:cs typeface="Roboto Light" pitchFamily="34" charset="-120"/>
              </a:rPr>
              <a:t>The UI adapts seamlessly to various screen sizes and resolutions, ensuring consistent usability.</a:t>
            </a:r>
            <a:endParaRPr lang="en-US" sz="2400" dirty="0"/>
          </a:p>
          <a:p>
            <a:pPr marL="0" indent="0" algn="l">
              <a:lnSpc>
                <a:spcPts val="2850"/>
              </a:lnSpc>
              <a:buNone/>
            </a:pPr>
            <a:endParaRPr lang="en-US" sz="2400" dirty="0"/>
          </a:p>
        </p:txBody>
      </p:sp>
      <p:pic>
        <p:nvPicPr>
          <p:cNvPr id="3" name="Picture 2">
            <a:extLst>
              <a:ext uri="{FF2B5EF4-FFF2-40B4-BE49-F238E27FC236}">
                <a16:creationId xmlns:a16="http://schemas.microsoft.com/office/drawing/2014/main" id="{EAE5AD7A-EB02-88C3-0B90-CEE333002D2E}"/>
              </a:ext>
            </a:extLst>
          </p:cNvPr>
          <p:cNvPicPr>
            <a:picLocks noChangeAspect="1"/>
          </p:cNvPicPr>
          <p:nvPr/>
        </p:nvPicPr>
        <p:blipFill>
          <a:blip r:embed="rId2"/>
          <a:srcRect t="5345" b="2250"/>
          <a:stretch/>
        </p:blipFill>
        <p:spPr>
          <a:xfrm>
            <a:off x="8803004" y="323274"/>
            <a:ext cx="3703320" cy="7604567"/>
          </a:xfrm>
          <a:prstGeom prst="rect">
            <a:avLst/>
          </a:prstGeom>
          <a:effectLst>
            <a:glow rad="508000">
              <a:schemeClr val="accent1">
                <a:alpha val="40000"/>
              </a:schemeClr>
            </a:glow>
          </a:effectLst>
        </p:spPr>
      </p:pic>
      <p:pic>
        <p:nvPicPr>
          <p:cNvPr id="6" name="Picture 5">
            <a:extLst>
              <a:ext uri="{FF2B5EF4-FFF2-40B4-BE49-F238E27FC236}">
                <a16:creationId xmlns:a16="http://schemas.microsoft.com/office/drawing/2014/main" id="{730ABFE4-C1D4-2FB9-5D78-99ABAE85B22D}"/>
              </a:ext>
            </a:extLst>
          </p:cNvPr>
          <p:cNvPicPr>
            <a:picLocks noChangeAspect="1"/>
          </p:cNvPicPr>
          <p:nvPr/>
        </p:nvPicPr>
        <p:blipFill>
          <a:blip r:embed="rId3"/>
          <a:stretch>
            <a:fillRect/>
          </a:stretch>
        </p:blipFill>
        <p:spPr>
          <a:xfrm>
            <a:off x="535461" y="4252129"/>
            <a:ext cx="6526125" cy="3670945"/>
          </a:xfrm>
          <a:prstGeom prst="rect">
            <a:avLst/>
          </a:prstGeom>
        </p:spPr>
      </p:pic>
    </p:spTree>
    <p:extLst>
      <p:ext uri="{BB962C8B-B14F-4D97-AF65-F5344CB8AC3E}">
        <p14:creationId xmlns:p14="http://schemas.microsoft.com/office/powerpoint/2010/main" val="264065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81BBA-1C97-563A-12A4-EA08335B04F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3F5AE98-A458-BFA8-DBFE-E7CFC684AB45}"/>
              </a:ext>
            </a:extLst>
          </p:cNvPr>
          <p:cNvSpPr txBox="1"/>
          <p:nvPr/>
        </p:nvSpPr>
        <p:spPr>
          <a:xfrm>
            <a:off x="774551" y="968188"/>
            <a:ext cx="3818964" cy="369332"/>
          </a:xfrm>
          <a:prstGeom prst="rect">
            <a:avLst/>
          </a:prstGeom>
          <a:noFill/>
        </p:spPr>
        <p:txBody>
          <a:bodyPr wrap="square" rtlCol="0">
            <a:spAutoFit/>
          </a:bodyPr>
          <a:lstStyle/>
          <a:p>
            <a:r>
              <a:rPr lang="en-IN" dirty="0"/>
              <a:t>XML code snippet:</a:t>
            </a:r>
          </a:p>
        </p:txBody>
      </p:sp>
      <p:sp>
        <p:nvSpPr>
          <p:cNvPr id="7" name="TextBox 6">
            <a:extLst>
              <a:ext uri="{FF2B5EF4-FFF2-40B4-BE49-F238E27FC236}">
                <a16:creationId xmlns:a16="http://schemas.microsoft.com/office/drawing/2014/main" id="{62A9B145-5C18-ED2A-FA22-C06EEC564F63}"/>
              </a:ext>
            </a:extLst>
          </p:cNvPr>
          <p:cNvSpPr txBox="1"/>
          <p:nvPr/>
        </p:nvSpPr>
        <p:spPr>
          <a:xfrm>
            <a:off x="8127405" y="968188"/>
            <a:ext cx="3818964" cy="369332"/>
          </a:xfrm>
          <a:prstGeom prst="rect">
            <a:avLst/>
          </a:prstGeom>
          <a:noFill/>
        </p:spPr>
        <p:txBody>
          <a:bodyPr wrap="square" rtlCol="0">
            <a:spAutoFit/>
          </a:bodyPr>
          <a:lstStyle/>
          <a:p>
            <a:r>
              <a:rPr lang="en-IN" dirty="0"/>
              <a:t>JAVA code snippet:</a:t>
            </a:r>
          </a:p>
        </p:txBody>
      </p:sp>
      <p:sp>
        <p:nvSpPr>
          <p:cNvPr id="8" name="TextBox 7">
            <a:extLst>
              <a:ext uri="{FF2B5EF4-FFF2-40B4-BE49-F238E27FC236}">
                <a16:creationId xmlns:a16="http://schemas.microsoft.com/office/drawing/2014/main" id="{FACC08C5-6C11-16B4-444C-328A6C141DD3}"/>
              </a:ext>
            </a:extLst>
          </p:cNvPr>
          <p:cNvSpPr txBox="1"/>
          <p:nvPr/>
        </p:nvSpPr>
        <p:spPr>
          <a:xfrm>
            <a:off x="411494" y="260076"/>
            <a:ext cx="7315200" cy="555345"/>
          </a:xfrm>
          <a:prstGeom prst="rect">
            <a:avLst/>
          </a:prstGeom>
          <a:noFill/>
        </p:spPr>
        <p:txBody>
          <a:bodyPr wrap="square">
            <a:spAutoFit/>
          </a:bodyPr>
          <a:lstStyle/>
          <a:p>
            <a:pPr marL="0" indent="0" algn="l">
              <a:lnSpc>
                <a:spcPts val="3500"/>
              </a:lnSpc>
              <a:buNone/>
            </a:pPr>
            <a:r>
              <a:rPr lang="en-US" sz="3600" dirty="0">
                <a:solidFill>
                  <a:srgbClr val="1F1E1E"/>
                </a:solidFill>
                <a:latin typeface="Red Hat Text" pitchFamily="34" charset="0"/>
                <a:ea typeface="Red Hat Text" pitchFamily="34" charset="-122"/>
                <a:cs typeface="Red Hat Text" pitchFamily="34" charset="-120"/>
              </a:rPr>
              <a:t>Tic Tac Toe</a:t>
            </a:r>
            <a:endParaRPr lang="en-US" sz="3600" dirty="0"/>
          </a:p>
        </p:txBody>
      </p:sp>
      <p:pic>
        <p:nvPicPr>
          <p:cNvPr id="4" name="Picture 3">
            <a:extLst>
              <a:ext uri="{FF2B5EF4-FFF2-40B4-BE49-F238E27FC236}">
                <a16:creationId xmlns:a16="http://schemas.microsoft.com/office/drawing/2014/main" id="{037BA2DA-61EA-1C6B-1F23-806B568C6D13}"/>
              </a:ext>
            </a:extLst>
          </p:cNvPr>
          <p:cNvPicPr>
            <a:picLocks noChangeAspect="1"/>
          </p:cNvPicPr>
          <p:nvPr/>
        </p:nvPicPr>
        <p:blipFill>
          <a:blip r:embed="rId2"/>
          <a:stretch>
            <a:fillRect/>
          </a:stretch>
        </p:blipFill>
        <p:spPr>
          <a:xfrm>
            <a:off x="7533002" y="2431227"/>
            <a:ext cx="6955095" cy="3912241"/>
          </a:xfrm>
          <a:prstGeom prst="rect">
            <a:avLst/>
          </a:prstGeom>
        </p:spPr>
      </p:pic>
      <p:pic>
        <p:nvPicPr>
          <p:cNvPr id="10" name="Picture 9">
            <a:extLst>
              <a:ext uri="{FF2B5EF4-FFF2-40B4-BE49-F238E27FC236}">
                <a16:creationId xmlns:a16="http://schemas.microsoft.com/office/drawing/2014/main" id="{5F7083D9-64B2-0499-270B-18032CBEAA93}"/>
              </a:ext>
            </a:extLst>
          </p:cNvPr>
          <p:cNvPicPr>
            <a:picLocks noChangeAspect="1"/>
          </p:cNvPicPr>
          <p:nvPr/>
        </p:nvPicPr>
        <p:blipFill>
          <a:blip r:embed="rId3"/>
          <a:stretch>
            <a:fillRect/>
          </a:stretch>
        </p:blipFill>
        <p:spPr>
          <a:xfrm>
            <a:off x="368648" y="2431227"/>
            <a:ext cx="6955093" cy="3912240"/>
          </a:xfrm>
          <a:prstGeom prst="rect">
            <a:avLst/>
          </a:prstGeom>
        </p:spPr>
      </p:pic>
    </p:spTree>
    <p:extLst>
      <p:ext uri="{BB962C8B-B14F-4D97-AF65-F5344CB8AC3E}">
        <p14:creationId xmlns:p14="http://schemas.microsoft.com/office/powerpoint/2010/main" val="1739654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9366" y="583049"/>
            <a:ext cx="6569750" cy="537210"/>
          </a:xfrm>
          <a:prstGeom prst="rect">
            <a:avLst/>
          </a:prstGeom>
          <a:noFill/>
          <a:ln/>
        </p:spPr>
        <p:txBody>
          <a:bodyPr wrap="none" lIns="0" tIns="0" rIns="0" bIns="0" rtlCol="0" anchor="t"/>
          <a:lstStyle/>
          <a:p>
            <a:pPr marL="0" indent="0" algn="l">
              <a:lnSpc>
                <a:spcPts val="4200"/>
              </a:lnSpc>
              <a:buNone/>
            </a:pPr>
            <a:r>
              <a:rPr lang="en-US" sz="3350" dirty="0">
                <a:solidFill>
                  <a:srgbClr val="1F1E1E"/>
                </a:solidFill>
                <a:latin typeface="Red Hat Text" pitchFamily="34" charset="0"/>
                <a:ea typeface="Red Hat Text" pitchFamily="34" charset="-122"/>
                <a:cs typeface="Red Hat Text" pitchFamily="34" charset="-120"/>
              </a:rPr>
              <a:t>Game Logic: Java Implementation</a:t>
            </a:r>
            <a:endParaRPr lang="en-US" sz="3350" dirty="0"/>
          </a:p>
        </p:txBody>
      </p:sp>
      <p:sp>
        <p:nvSpPr>
          <p:cNvPr id="3" name="Shape 1"/>
          <p:cNvSpPr/>
          <p:nvPr/>
        </p:nvSpPr>
        <p:spPr>
          <a:xfrm>
            <a:off x="7303770" y="1485543"/>
            <a:ext cx="22860" cy="5663327"/>
          </a:xfrm>
          <a:prstGeom prst="roundRect">
            <a:avLst>
              <a:gd name="adj" fmla="val 119880"/>
            </a:avLst>
          </a:prstGeom>
          <a:solidFill>
            <a:srgbClr val="D9CECE"/>
          </a:solidFill>
          <a:ln/>
        </p:spPr>
      </p:sp>
      <p:sp>
        <p:nvSpPr>
          <p:cNvPr id="4" name="Shape 2"/>
          <p:cNvSpPr/>
          <p:nvPr/>
        </p:nvSpPr>
        <p:spPr>
          <a:xfrm>
            <a:off x="6584513" y="1885117"/>
            <a:ext cx="548045" cy="22860"/>
          </a:xfrm>
          <a:prstGeom prst="roundRect">
            <a:avLst>
              <a:gd name="adj" fmla="val 119880"/>
            </a:avLst>
          </a:prstGeom>
          <a:solidFill>
            <a:srgbClr val="D9CECE"/>
          </a:solidFill>
          <a:ln/>
        </p:spPr>
      </p:sp>
      <p:sp>
        <p:nvSpPr>
          <p:cNvPr id="5" name="Shape 3"/>
          <p:cNvSpPr/>
          <p:nvPr/>
        </p:nvSpPr>
        <p:spPr>
          <a:xfrm>
            <a:off x="7109698" y="1691045"/>
            <a:ext cx="411004" cy="411004"/>
          </a:xfrm>
          <a:prstGeom prst="roundRect">
            <a:avLst>
              <a:gd name="adj" fmla="val 6668"/>
            </a:avLst>
          </a:prstGeom>
          <a:solidFill>
            <a:srgbClr val="F3E8E8"/>
          </a:solidFill>
          <a:ln/>
        </p:spPr>
      </p:sp>
      <p:sp>
        <p:nvSpPr>
          <p:cNvPr id="6" name="Text 4"/>
          <p:cNvSpPr/>
          <p:nvPr/>
        </p:nvSpPr>
        <p:spPr>
          <a:xfrm>
            <a:off x="7186255" y="1735395"/>
            <a:ext cx="257889" cy="322302"/>
          </a:xfrm>
          <a:prstGeom prst="rect">
            <a:avLst/>
          </a:prstGeom>
          <a:noFill/>
          <a:ln/>
        </p:spPr>
        <p:txBody>
          <a:bodyPr wrap="none" lIns="0" tIns="0" rIns="0" bIns="0" rtlCol="0" anchor="t"/>
          <a:lstStyle/>
          <a:p>
            <a:pPr marL="0" indent="0" algn="ctr">
              <a:lnSpc>
                <a:spcPts val="2000"/>
              </a:lnSpc>
              <a:buNone/>
            </a:pPr>
            <a:r>
              <a:rPr lang="en-US" sz="2000" dirty="0">
                <a:solidFill>
                  <a:srgbClr val="3B3535"/>
                </a:solidFill>
                <a:latin typeface="Red Hat Text" pitchFamily="34" charset="0"/>
                <a:ea typeface="Red Hat Text" pitchFamily="34" charset="-122"/>
                <a:cs typeface="Red Hat Text" pitchFamily="34" charset="-120"/>
              </a:rPr>
              <a:t>1</a:t>
            </a:r>
            <a:endParaRPr lang="en-US" sz="2000" dirty="0"/>
          </a:p>
        </p:txBody>
      </p:sp>
      <p:sp>
        <p:nvSpPr>
          <p:cNvPr id="7" name="Text 5"/>
          <p:cNvSpPr/>
          <p:nvPr/>
        </p:nvSpPr>
        <p:spPr>
          <a:xfrm>
            <a:off x="4252436" y="1668185"/>
            <a:ext cx="2149316" cy="268605"/>
          </a:xfrm>
          <a:prstGeom prst="rect">
            <a:avLst/>
          </a:prstGeom>
          <a:noFill/>
          <a:ln/>
        </p:spPr>
        <p:txBody>
          <a:bodyPr wrap="none" lIns="0" tIns="0" rIns="0" bIns="0" rtlCol="0" anchor="t"/>
          <a:lstStyle/>
          <a:p>
            <a:pPr marL="0" indent="0" algn="r">
              <a:lnSpc>
                <a:spcPts val="2100"/>
              </a:lnSpc>
              <a:buNone/>
            </a:pPr>
            <a:r>
              <a:rPr lang="en-US" sz="1650" dirty="0">
                <a:solidFill>
                  <a:srgbClr val="3B3535"/>
                </a:solidFill>
                <a:latin typeface="Red Hat Text" pitchFamily="34" charset="0"/>
                <a:ea typeface="Red Hat Text" pitchFamily="34" charset="-122"/>
                <a:cs typeface="Red Hat Text" pitchFamily="34" charset="-120"/>
              </a:rPr>
              <a:t>Sound Memory</a:t>
            </a:r>
            <a:endParaRPr lang="en-US" sz="1650" dirty="0"/>
          </a:p>
        </p:txBody>
      </p:sp>
      <p:sp>
        <p:nvSpPr>
          <p:cNvPr id="8" name="Text 6"/>
          <p:cNvSpPr/>
          <p:nvPr/>
        </p:nvSpPr>
        <p:spPr>
          <a:xfrm>
            <a:off x="639366" y="2046327"/>
            <a:ext cx="5762387" cy="584359"/>
          </a:xfrm>
          <a:prstGeom prst="rect">
            <a:avLst/>
          </a:prstGeom>
          <a:noFill/>
          <a:ln/>
        </p:spPr>
        <p:txBody>
          <a:bodyPr wrap="square" lIns="0" tIns="0" rIns="0" bIns="0" rtlCol="0" anchor="t"/>
          <a:lstStyle/>
          <a:p>
            <a:pPr marL="0" indent="0" algn="r">
              <a:lnSpc>
                <a:spcPts val="2300"/>
              </a:lnSpc>
              <a:buNone/>
            </a:pPr>
            <a:r>
              <a:rPr lang="en-US" sz="1400" dirty="0">
                <a:solidFill>
                  <a:srgbClr val="3B3535"/>
                </a:solidFill>
                <a:latin typeface="Roboto Light" pitchFamily="34" charset="0"/>
                <a:ea typeface="Roboto Light" pitchFamily="34" charset="-122"/>
                <a:cs typeface="Roboto Light" pitchFamily="34" charset="-120"/>
              </a:rPr>
              <a:t>Uses </a:t>
            </a:r>
            <a:r>
              <a:rPr lang="en-US" sz="1400" b="1" dirty="0">
                <a:solidFill>
                  <a:srgbClr val="3B3535"/>
                </a:solidFill>
                <a:latin typeface="Roboto Light" pitchFamily="34" charset="0"/>
                <a:ea typeface="Roboto Light" pitchFamily="34" charset="-122"/>
                <a:cs typeface="Roboto Light" pitchFamily="34" charset="-120"/>
              </a:rPr>
              <a:t>drawable&lt;Integer, Integer&gt; Raw file </a:t>
            </a:r>
            <a:r>
              <a:rPr lang="en-US" sz="1400" dirty="0">
                <a:solidFill>
                  <a:srgbClr val="3B3535"/>
                </a:solidFill>
                <a:latin typeface="Roboto Light" pitchFamily="34" charset="0"/>
                <a:ea typeface="Roboto Light" pitchFamily="34" charset="-122"/>
                <a:cs typeface="Roboto Light" pitchFamily="34" charset="-120"/>
              </a:rPr>
              <a:t>for matching sounds. Each sound is assigned a unique ID and mapped to its pair.</a:t>
            </a:r>
            <a:endParaRPr lang="en-US" sz="1400" dirty="0"/>
          </a:p>
        </p:txBody>
      </p:sp>
      <p:sp>
        <p:nvSpPr>
          <p:cNvPr id="9" name="Shape 7"/>
          <p:cNvSpPr/>
          <p:nvPr/>
        </p:nvSpPr>
        <p:spPr>
          <a:xfrm>
            <a:off x="7497842" y="2798445"/>
            <a:ext cx="548045" cy="22860"/>
          </a:xfrm>
          <a:prstGeom prst="roundRect">
            <a:avLst>
              <a:gd name="adj" fmla="val 119880"/>
            </a:avLst>
          </a:prstGeom>
          <a:solidFill>
            <a:srgbClr val="D9CECE"/>
          </a:solidFill>
          <a:ln/>
        </p:spPr>
      </p:sp>
      <p:sp>
        <p:nvSpPr>
          <p:cNvPr id="10" name="Shape 8"/>
          <p:cNvSpPr/>
          <p:nvPr/>
        </p:nvSpPr>
        <p:spPr>
          <a:xfrm>
            <a:off x="7109698" y="2604373"/>
            <a:ext cx="411004" cy="411004"/>
          </a:xfrm>
          <a:prstGeom prst="roundRect">
            <a:avLst>
              <a:gd name="adj" fmla="val 6668"/>
            </a:avLst>
          </a:prstGeom>
          <a:solidFill>
            <a:srgbClr val="F3E8E8"/>
          </a:solidFill>
          <a:ln/>
        </p:spPr>
      </p:sp>
      <p:sp>
        <p:nvSpPr>
          <p:cNvPr id="11" name="Text 9"/>
          <p:cNvSpPr/>
          <p:nvPr/>
        </p:nvSpPr>
        <p:spPr>
          <a:xfrm>
            <a:off x="7186255" y="2648724"/>
            <a:ext cx="257889" cy="322302"/>
          </a:xfrm>
          <a:prstGeom prst="rect">
            <a:avLst/>
          </a:prstGeom>
          <a:noFill/>
          <a:ln/>
        </p:spPr>
        <p:txBody>
          <a:bodyPr wrap="none" lIns="0" tIns="0" rIns="0" bIns="0" rtlCol="0" anchor="t"/>
          <a:lstStyle/>
          <a:p>
            <a:pPr marL="0" indent="0" algn="ctr">
              <a:lnSpc>
                <a:spcPts val="2000"/>
              </a:lnSpc>
              <a:buNone/>
            </a:pPr>
            <a:r>
              <a:rPr lang="en-US" sz="2000" dirty="0">
                <a:solidFill>
                  <a:srgbClr val="3B3535"/>
                </a:solidFill>
                <a:latin typeface="Red Hat Text" pitchFamily="34" charset="0"/>
                <a:ea typeface="Red Hat Text" pitchFamily="34" charset="-122"/>
                <a:cs typeface="Red Hat Text" pitchFamily="34" charset="-120"/>
              </a:rPr>
              <a:t>2</a:t>
            </a:r>
            <a:endParaRPr lang="en-US" sz="2000" dirty="0"/>
          </a:p>
        </p:txBody>
      </p:sp>
      <p:sp>
        <p:nvSpPr>
          <p:cNvPr id="12" name="Text 10"/>
          <p:cNvSpPr/>
          <p:nvPr/>
        </p:nvSpPr>
        <p:spPr>
          <a:xfrm>
            <a:off x="8228648" y="2581513"/>
            <a:ext cx="2149316" cy="268605"/>
          </a:xfrm>
          <a:prstGeom prst="rect">
            <a:avLst/>
          </a:prstGeom>
          <a:noFill/>
          <a:ln/>
        </p:spPr>
        <p:txBody>
          <a:bodyPr wrap="none" lIns="0" tIns="0" rIns="0" bIns="0" rtlCol="0" anchor="t"/>
          <a:lstStyle/>
          <a:p>
            <a:pPr marL="0" indent="0" algn="l">
              <a:lnSpc>
                <a:spcPts val="2100"/>
              </a:lnSpc>
              <a:buNone/>
            </a:pPr>
            <a:r>
              <a:rPr lang="en-US" sz="1650" dirty="0">
                <a:solidFill>
                  <a:srgbClr val="3B3535"/>
                </a:solidFill>
                <a:latin typeface="Red Hat Text" pitchFamily="34" charset="0"/>
                <a:ea typeface="Red Hat Text" pitchFamily="34" charset="-122"/>
                <a:cs typeface="Red Hat Text" pitchFamily="34" charset="-120"/>
              </a:rPr>
              <a:t>Card Memory</a:t>
            </a:r>
            <a:endParaRPr lang="en-US" sz="1650" dirty="0"/>
          </a:p>
        </p:txBody>
      </p:sp>
      <p:sp>
        <p:nvSpPr>
          <p:cNvPr id="13" name="Text 11"/>
          <p:cNvSpPr/>
          <p:nvPr/>
        </p:nvSpPr>
        <p:spPr>
          <a:xfrm>
            <a:off x="8228648" y="2959656"/>
            <a:ext cx="5762387" cy="584359"/>
          </a:xfrm>
          <a:prstGeom prst="rect">
            <a:avLst/>
          </a:prstGeom>
          <a:noFill/>
          <a:ln/>
        </p:spPr>
        <p:txBody>
          <a:bodyPr wrap="square" lIns="0" tIns="0" rIns="0" bIns="0" rtlCol="0" anchor="t"/>
          <a:lstStyle/>
          <a:p>
            <a:pPr marL="0" indent="0" algn="l">
              <a:lnSpc>
                <a:spcPts val="2300"/>
              </a:lnSpc>
              <a:buNone/>
            </a:pPr>
            <a:r>
              <a:rPr lang="en-US" sz="1400" dirty="0">
                <a:solidFill>
                  <a:srgbClr val="3B3535"/>
                </a:solidFill>
                <a:latin typeface="Roboto Light" pitchFamily="34" charset="0"/>
                <a:ea typeface="Roboto Light" pitchFamily="34" charset="-122"/>
                <a:cs typeface="Roboto Light" pitchFamily="34" charset="-120"/>
              </a:rPr>
              <a:t>Employs </a:t>
            </a:r>
            <a:r>
              <a:rPr lang="en-US" sz="1400" b="1" dirty="0">
                <a:solidFill>
                  <a:srgbClr val="3B3535"/>
                </a:solidFill>
                <a:latin typeface="Roboto Light" pitchFamily="34" charset="0"/>
                <a:ea typeface="Roboto Light" pitchFamily="34" charset="-122"/>
                <a:cs typeface="Roboto Light" pitchFamily="34" charset="-120"/>
              </a:rPr>
              <a:t>ArrayList&lt;Integer&gt; cardList</a:t>
            </a:r>
            <a:r>
              <a:rPr lang="en-US" sz="1400" dirty="0">
                <a:solidFill>
                  <a:srgbClr val="3B3535"/>
                </a:solidFill>
                <a:latin typeface="Roboto Light" pitchFamily="34" charset="0"/>
                <a:ea typeface="Roboto Light" pitchFamily="34" charset="-122"/>
                <a:cs typeface="Roboto Light" pitchFamily="34" charset="-120"/>
              </a:rPr>
              <a:t> to track card pairs. </a:t>
            </a:r>
            <a:r>
              <a:rPr lang="en-US" sz="1400" b="1" dirty="0">
                <a:solidFill>
                  <a:srgbClr val="3B3535"/>
                </a:solidFill>
                <a:latin typeface="Roboto Light" pitchFamily="34" charset="0"/>
                <a:ea typeface="Roboto Light" pitchFamily="34" charset="-122"/>
                <a:cs typeface="Roboto Light" pitchFamily="34" charset="-120"/>
              </a:rPr>
              <a:t>Collections.shuffle(cardList)</a:t>
            </a:r>
            <a:r>
              <a:rPr lang="en-US" sz="1400" dirty="0">
                <a:solidFill>
                  <a:srgbClr val="3B3535"/>
                </a:solidFill>
                <a:latin typeface="Roboto Light" pitchFamily="34" charset="0"/>
                <a:ea typeface="Roboto Light" pitchFamily="34" charset="-122"/>
                <a:cs typeface="Roboto Light" pitchFamily="34" charset="-120"/>
              </a:rPr>
              <a:t> randomizes card positions at the start.</a:t>
            </a:r>
            <a:endParaRPr lang="en-US" sz="1400" dirty="0"/>
          </a:p>
        </p:txBody>
      </p:sp>
      <p:sp>
        <p:nvSpPr>
          <p:cNvPr id="14" name="Shape 12"/>
          <p:cNvSpPr/>
          <p:nvPr/>
        </p:nvSpPr>
        <p:spPr>
          <a:xfrm>
            <a:off x="6584513" y="3620453"/>
            <a:ext cx="548045" cy="22860"/>
          </a:xfrm>
          <a:prstGeom prst="roundRect">
            <a:avLst>
              <a:gd name="adj" fmla="val 119880"/>
            </a:avLst>
          </a:prstGeom>
          <a:solidFill>
            <a:srgbClr val="D9CECE"/>
          </a:solidFill>
          <a:ln/>
        </p:spPr>
      </p:sp>
      <p:sp>
        <p:nvSpPr>
          <p:cNvPr id="15" name="Shape 13"/>
          <p:cNvSpPr/>
          <p:nvPr/>
        </p:nvSpPr>
        <p:spPr>
          <a:xfrm>
            <a:off x="7109698" y="3426381"/>
            <a:ext cx="411004" cy="411004"/>
          </a:xfrm>
          <a:prstGeom prst="roundRect">
            <a:avLst>
              <a:gd name="adj" fmla="val 6668"/>
            </a:avLst>
          </a:prstGeom>
          <a:solidFill>
            <a:srgbClr val="F3E8E8"/>
          </a:solidFill>
          <a:ln/>
        </p:spPr>
      </p:sp>
      <p:sp>
        <p:nvSpPr>
          <p:cNvPr id="16" name="Text 14"/>
          <p:cNvSpPr/>
          <p:nvPr/>
        </p:nvSpPr>
        <p:spPr>
          <a:xfrm>
            <a:off x="7186255" y="3470731"/>
            <a:ext cx="257889" cy="322302"/>
          </a:xfrm>
          <a:prstGeom prst="rect">
            <a:avLst/>
          </a:prstGeom>
          <a:noFill/>
          <a:ln/>
        </p:spPr>
        <p:txBody>
          <a:bodyPr wrap="none" lIns="0" tIns="0" rIns="0" bIns="0" rtlCol="0" anchor="t"/>
          <a:lstStyle/>
          <a:p>
            <a:pPr marL="0" indent="0" algn="ctr">
              <a:lnSpc>
                <a:spcPts val="2000"/>
              </a:lnSpc>
              <a:buNone/>
            </a:pPr>
            <a:r>
              <a:rPr lang="en-US" sz="2000" dirty="0">
                <a:solidFill>
                  <a:srgbClr val="3B3535"/>
                </a:solidFill>
                <a:latin typeface="Red Hat Text" pitchFamily="34" charset="0"/>
                <a:ea typeface="Red Hat Text" pitchFamily="34" charset="-122"/>
                <a:cs typeface="Red Hat Text" pitchFamily="34" charset="-120"/>
              </a:rPr>
              <a:t>3</a:t>
            </a:r>
            <a:endParaRPr lang="en-US" sz="2000" dirty="0"/>
          </a:p>
        </p:txBody>
      </p:sp>
      <p:sp>
        <p:nvSpPr>
          <p:cNvPr id="17" name="Text 15"/>
          <p:cNvSpPr/>
          <p:nvPr/>
        </p:nvSpPr>
        <p:spPr>
          <a:xfrm>
            <a:off x="4252436" y="3403521"/>
            <a:ext cx="2149316" cy="268605"/>
          </a:xfrm>
          <a:prstGeom prst="rect">
            <a:avLst/>
          </a:prstGeom>
          <a:noFill/>
          <a:ln/>
        </p:spPr>
        <p:txBody>
          <a:bodyPr wrap="none" lIns="0" tIns="0" rIns="0" bIns="0" rtlCol="0" anchor="t"/>
          <a:lstStyle/>
          <a:p>
            <a:pPr marL="0" indent="0" algn="r">
              <a:lnSpc>
                <a:spcPts val="2100"/>
              </a:lnSpc>
              <a:buNone/>
            </a:pPr>
            <a:r>
              <a:rPr lang="en-US" sz="1650" dirty="0">
                <a:solidFill>
                  <a:srgbClr val="3B3535"/>
                </a:solidFill>
                <a:latin typeface="Red Hat Text" pitchFamily="34" charset="0"/>
                <a:ea typeface="Red Hat Text" pitchFamily="34" charset="-122"/>
                <a:cs typeface="Red Hat Text" pitchFamily="34" charset="-120"/>
              </a:rPr>
              <a:t>Tic-Tac-Toe</a:t>
            </a:r>
            <a:endParaRPr lang="en-US" sz="1650" dirty="0"/>
          </a:p>
        </p:txBody>
      </p:sp>
      <p:sp>
        <p:nvSpPr>
          <p:cNvPr id="18" name="Text 16"/>
          <p:cNvSpPr/>
          <p:nvPr/>
        </p:nvSpPr>
        <p:spPr>
          <a:xfrm>
            <a:off x="639366" y="3781663"/>
            <a:ext cx="5762387" cy="584359"/>
          </a:xfrm>
          <a:prstGeom prst="rect">
            <a:avLst/>
          </a:prstGeom>
          <a:noFill/>
          <a:ln/>
        </p:spPr>
        <p:txBody>
          <a:bodyPr wrap="square" lIns="0" tIns="0" rIns="0" bIns="0" rtlCol="0" anchor="t"/>
          <a:lstStyle/>
          <a:p>
            <a:pPr marL="0" indent="0" algn="r">
              <a:lnSpc>
                <a:spcPts val="2300"/>
              </a:lnSpc>
              <a:buNone/>
            </a:pPr>
            <a:r>
              <a:rPr lang="en-US" sz="1400" dirty="0">
                <a:solidFill>
                  <a:srgbClr val="3B3535"/>
                </a:solidFill>
                <a:latin typeface="Roboto Light" pitchFamily="34" charset="0"/>
                <a:ea typeface="Roboto Light" pitchFamily="34" charset="-122"/>
                <a:cs typeface="Roboto Light" pitchFamily="34" charset="-120"/>
              </a:rPr>
              <a:t>Uses a 2D array </a:t>
            </a:r>
            <a:r>
              <a:rPr lang="en-US" sz="1400" b="1" dirty="0">
                <a:solidFill>
                  <a:srgbClr val="3B3535"/>
                </a:solidFill>
                <a:latin typeface="Roboto Light" pitchFamily="34" charset="0"/>
                <a:ea typeface="Roboto Light" pitchFamily="34" charset="-122"/>
                <a:cs typeface="Roboto Light" pitchFamily="34" charset="-120"/>
              </a:rPr>
              <a:t>board</a:t>
            </a:r>
            <a:r>
              <a:rPr lang="en-US" sz="1400" dirty="0">
                <a:solidFill>
                  <a:srgbClr val="3B3535"/>
                </a:solidFill>
                <a:latin typeface="Roboto Light" pitchFamily="34" charset="0"/>
                <a:ea typeface="Roboto Light" pitchFamily="34" charset="-122"/>
                <a:cs typeface="Roboto Light" pitchFamily="34" charset="-120"/>
              </a:rPr>
              <a:t> to track moves. Winning conditions are checked after each move.</a:t>
            </a:r>
            <a:endParaRPr lang="en-US" sz="1400" dirty="0"/>
          </a:p>
        </p:txBody>
      </p:sp>
      <p:sp>
        <p:nvSpPr>
          <p:cNvPr id="19" name="Shape 17"/>
          <p:cNvSpPr/>
          <p:nvPr/>
        </p:nvSpPr>
        <p:spPr>
          <a:xfrm>
            <a:off x="7497842" y="4442579"/>
            <a:ext cx="548045" cy="22860"/>
          </a:xfrm>
          <a:prstGeom prst="roundRect">
            <a:avLst>
              <a:gd name="adj" fmla="val 119880"/>
            </a:avLst>
          </a:prstGeom>
          <a:solidFill>
            <a:srgbClr val="D9CECE"/>
          </a:solidFill>
          <a:ln/>
        </p:spPr>
      </p:sp>
      <p:sp>
        <p:nvSpPr>
          <p:cNvPr id="20" name="Shape 18"/>
          <p:cNvSpPr/>
          <p:nvPr/>
        </p:nvSpPr>
        <p:spPr>
          <a:xfrm>
            <a:off x="7109698" y="4248507"/>
            <a:ext cx="411004" cy="411004"/>
          </a:xfrm>
          <a:prstGeom prst="roundRect">
            <a:avLst>
              <a:gd name="adj" fmla="val 6668"/>
            </a:avLst>
          </a:prstGeom>
          <a:solidFill>
            <a:srgbClr val="F3E8E8"/>
          </a:solidFill>
          <a:ln/>
        </p:spPr>
      </p:sp>
      <p:sp>
        <p:nvSpPr>
          <p:cNvPr id="21" name="Text 19"/>
          <p:cNvSpPr/>
          <p:nvPr/>
        </p:nvSpPr>
        <p:spPr>
          <a:xfrm>
            <a:off x="7186255" y="4292858"/>
            <a:ext cx="257889" cy="322302"/>
          </a:xfrm>
          <a:prstGeom prst="rect">
            <a:avLst/>
          </a:prstGeom>
          <a:noFill/>
          <a:ln/>
        </p:spPr>
        <p:txBody>
          <a:bodyPr wrap="none" lIns="0" tIns="0" rIns="0" bIns="0" rtlCol="0" anchor="t"/>
          <a:lstStyle/>
          <a:p>
            <a:pPr marL="0" indent="0" algn="ctr">
              <a:lnSpc>
                <a:spcPts val="2000"/>
              </a:lnSpc>
              <a:buNone/>
            </a:pPr>
            <a:r>
              <a:rPr lang="en-US" sz="2000" dirty="0">
                <a:solidFill>
                  <a:srgbClr val="3B3535"/>
                </a:solidFill>
                <a:latin typeface="Red Hat Text" pitchFamily="34" charset="0"/>
                <a:ea typeface="Red Hat Text" pitchFamily="34" charset="-122"/>
                <a:cs typeface="Red Hat Text" pitchFamily="34" charset="-120"/>
              </a:rPr>
              <a:t>4</a:t>
            </a:r>
            <a:endParaRPr lang="en-US" sz="2000" dirty="0"/>
          </a:p>
        </p:txBody>
      </p:sp>
      <p:sp>
        <p:nvSpPr>
          <p:cNvPr id="22" name="Text 20"/>
          <p:cNvSpPr/>
          <p:nvPr/>
        </p:nvSpPr>
        <p:spPr>
          <a:xfrm>
            <a:off x="8228648" y="4225647"/>
            <a:ext cx="2149316" cy="268605"/>
          </a:xfrm>
          <a:prstGeom prst="rect">
            <a:avLst/>
          </a:prstGeom>
          <a:noFill/>
          <a:ln/>
        </p:spPr>
        <p:txBody>
          <a:bodyPr wrap="none" lIns="0" tIns="0" rIns="0" bIns="0" rtlCol="0" anchor="t"/>
          <a:lstStyle/>
          <a:p>
            <a:pPr marL="0" indent="0" algn="l">
              <a:lnSpc>
                <a:spcPts val="2100"/>
              </a:lnSpc>
              <a:buNone/>
            </a:pPr>
            <a:r>
              <a:rPr lang="en-US" sz="1650" dirty="0">
                <a:solidFill>
                  <a:srgbClr val="3B3535"/>
                </a:solidFill>
                <a:latin typeface="Red Hat Text" pitchFamily="34" charset="0"/>
                <a:ea typeface="Red Hat Text" pitchFamily="34" charset="-122"/>
                <a:cs typeface="Red Hat Text" pitchFamily="34" charset="-120"/>
              </a:rPr>
              <a:t>Color Hunt</a:t>
            </a:r>
            <a:endParaRPr lang="en-US" sz="1650" dirty="0"/>
          </a:p>
        </p:txBody>
      </p:sp>
      <p:sp>
        <p:nvSpPr>
          <p:cNvPr id="23" name="Text 21"/>
          <p:cNvSpPr/>
          <p:nvPr/>
        </p:nvSpPr>
        <p:spPr>
          <a:xfrm>
            <a:off x="8228648" y="4603790"/>
            <a:ext cx="5762387" cy="584359"/>
          </a:xfrm>
          <a:prstGeom prst="rect">
            <a:avLst/>
          </a:prstGeom>
          <a:noFill/>
          <a:ln/>
        </p:spPr>
        <p:txBody>
          <a:bodyPr wrap="square" lIns="0" tIns="0" rIns="0" bIns="0" rtlCol="0" anchor="t"/>
          <a:lstStyle/>
          <a:p>
            <a:pPr marL="0" indent="0" algn="l">
              <a:lnSpc>
                <a:spcPts val="2300"/>
              </a:lnSpc>
              <a:buNone/>
            </a:pPr>
            <a:r>
              <a:rPr lang="en-US" sz="1400" dirty="0">
                <a:solidFill>
                  <a:srgbClr val="3B3535"/>
                </a:solidFill>
                <a:latin typeface="Roboto Light" pitchFamily="34" charset="0"/>
                <a:ea typeface="Roboto Light" pitchFamily="34" charset="-122"/>
                <a:cs typeface="Roboto Light" pitchFamily="34" charset="-120"/>
              </a:rPr>
              <a:t>Generates random color sequences using </a:t>
            </a:r>
            <a:r>
              <a:rPr lang="en-US" sz="1400" b="1" dirty="0">
                <a:solidFill>
                  <a:srgbClr val="3B3535"/>
                </a:solidFill>
                <a:latin typeface="Roboto Light" pitchFamily="34" charset="0"/>
                <a:ea typeface="Roboto Light" pitchFamily="34" charset="-122"/>
                <a:cs typeface="Roboto Light" pitchFamily="34" charset="-120"/>
              </a:rPr>
              <a:t>Random random = new Random()</a:t>
            </a:r>
            <a:r>
              <a:rPr lang="en-US" sz="1400" dirty="0">
                <a:solidFill>
                  <a:srgbClr val="3B3535"/>
                </a:solidFill>
                <a:latin typeface="Roboto Light" pitchFamily="34" charset="0"/>
                <a:ea typeface="Roboto Light" pitchFamily="34" charset="-122"/>
                <a:cs typeface="Roboto Light" pitchFamily="34" charset="-120"/>
              </a:rPr>
              <a:t>. Increases score for each correct sequence identified.</a:t>
            </a:r>
            <a:endParaRPr lang="en-US" sz="1400" dirty="0"/>
          </a:p>
        </p:txBody>
      </p:sp>
      <p:sp>
        <p:nvSpPr>
          <p:cNvPr id="24" name="Shape 22"/>
          <p:cNvSpPr/>
          <p:nvPr/>
        </p:nvSpPr>
        <p:spPr>
          <a:xfrm>
            <a:off x="6584513" y="5264706"/>
            <a:ext cx="548045" cy="22860"/>
          </a:xfrm>
          <a:prstGeom prst="roundRect">
            <a:avLst>
              <a:gd name="adj" fmla="val 119880"/>
            </a:avLst>
          </a:prstGeom>
          <a:solidFill>
            <a:srgbClr val="D9CECE"/>
          </a:solidFill>
          <a:ln/>
        </p:spPr>
      </p:sp>
      <p:sp>
        <p:nvSpPr>
          <p:cNvPr id="25" name="Shape 23"/>
          <p:cNvSpPr/>
          <p:nvPr/>
        </p:nvSpPr>
        <p:spPr>
          <a:xfrm>
            <a:off x="7109698" y="5070634"/>
            <a:ext cx="411004" cy="411004"/>
          </a:xfrm>
          <a:prstGeom prst="roundRect">
            <a:avLst>
              <a:gd name="adj" fmla="val 6668"/>
            </a:avLst>
          </a:prstGeom>
          <a:solidFill>
            <a:srgbClr val="F3E8E8"/>
          </a:solidFill>
          <a:ln/>
        </p:spPr>
      </p:sp>
      <p:sp>
        <p:nvSpPr>
          <p:cNvPr id="26" name="Text 24"/>
          <p:cNvSpPr/>
          <p:nvPr/>
        </p:nvSpPr>
        <p:spPr>
          <a:xfrm>
            <a:off x="7186255" y="5114985"/>
            <a:ext cx="257889" cy="322302"/>
          </a:xfrm>
          <a:prstGeom prst="rect">
            <a:avLst/>
          </a:prstGeom>
          <a:noFill/>
          <a:ln/>
        </p:spPr>
        <p:txBody>
          <a:bodyPr wrap="none" lIns="0" tIns="0" rIns="0" bIns="0" rtlCol="0" anchor="t"/>
          <a:lstStyle/>
          <a:p>
            <a:pPr marL="0" indent="0" algn="ctr">
              <a:lnSpc>
                <a:spcPts val="2000"/>
              </a:lnSpc>
              <a:buNone/>
            </a:pPr>
            <a:r>
              <a:rPr lang="en-US" sz="2000" dirty="0">
                <a:solidFill>
                  <a:srgbClr val="3B3535"/>
                </a:solidFill>
                <a:latin typeface="Red Hat Text" pitchFamily="34" charset="0"/>
                <a:ea typeface="Red Hat Text" pitchFamily="34" charset="-122"/>
                <a:cs typeface="Red Hat Text" pitchFamily="34" charset="-120"/>
              </a:rPr>
              <a:t>5</a:t>
            </a:r>
            <a:endParaRPr lang="en-US" sz="2000" dirty="0"/>
          </a:p>
        </p:txBody>
      </p:sp>
      <p:sp>
        <p:nvSpPr>
          <p:cNvPr id="27" name="Text 25"/>
          <p:cNvSpPr/>
          <p:nvPr/>
        </p:nvSpPr>
        <p:spPr>
          <a:xfrm>
            <a:off x="4252436" y="5047774"/>
            <a:ext cx="2149316" cy="268605"/>
          </a:xfrm>
          <a:prstGeom prst="rect">
            <a:avLst/>
          </a:prstGeom>
          <a:noFill/>
          <a:ln/>
        </p:spPr>
        <p:txBody>
          <a:bodyPr wrap="none" lIns="0" tIns="0" rIns="0" bIns="0" rtlCol="0" anchor="t"/>
          <a:lstStyle/>
          <a:p>
            <a:pPr marL="0" indent="0" algn="r">
              <a:lnSpc>
                <a:spcPts val="2100"/>
              </a:lnSpc>
              <a:buNone/>
            </a:pPr>
            <a:r>
              <a:rPr lang="en-US" sz="1650" dirty="0">
                <a:solidFill>
                  <a:srgbClr val="3B3535"/>
                </a:solidFill>
                <a:latin typeface="Red Hat Text" pitchFamily="34" charset="0"/>
                <a:ea typeface="Red Hat Text" pitchFamily="34" charset="-122"/>
                <a:cs typeface="Red Hat Text" pitchFamily="34" charset="-120"/>
              </a:rPr>
              <a:t>Sudoku</a:t>
            </a:r>
            <a:endParaRPr lang="en-US" sz="1650" dirty="0"/>
          </a:p>
        </p:txBody>
      </p:sp>
      <p:sp>
        <p:nvSpPr>
          <p:cNvPr id="28" name="Text 26"/>
          <p:cNvSpPr/>
          <p:nvPr/>
        </p:nvSpPr>
        <p:spPr>
          <a:xfrm>
            <a:off x="639366" y="5425916"/>
            <a:ext cx="5762387" cy="584359"/>
          </a:xfrm>
          <a:prstGeom prst="rect">
            <a:avLst/>
          </a:prstGeom>
          <a:noFill/>
          <a:ln/>
        </p:spPr>
        <p:txBody>
          <a:bodyPr wrap="square" lIns="0" tIns="0" rIns="0" bIns="0" rtlCol="0" anchor="t"/>
          <a:lstStyle/>
          <a:p>
            <a:pPr marL="0" indent="0" algn="r">
              <a:lnSpc>
                <a:spcPts val="2300"/>
              </a:lnSpc>
              <a:buNone/>
            </a:pPr>
            <a:r>
              <a:rPr lang="en-US" sz="1400" b="1" dirty="0">
                <a:solidFill>
                  <a:srgbClr val="3B3535"/>
                </a:solidFill>
                <a:latin typeface="Nirmala UI" panose="020B0502040204020203" pitchFamily="34" charset="0"/>
                <a:ea typeface="Nirmala UI" panose="020B0502040204020203" pitchFamily="34" charset="0"/>
                <a:cs typeface="Nirmala UI" panose="020B0502040204020203" pitchFamily="34" charset="0"/>
              </a:rPr>
              <a:t>Working on it …!!!</a:t>
            </a:r>
            <a:endParaRPr lang="en-US" sz="1400" dirty="0">
              <a:latin typeface="Nirmala UI" panose="020B0502040204020203" pitchFamily="34" charset="0"/>
              <a:ea typeface="Nirmala UI" panose="020B0502040204020203" pitchFamily="34" charset="0"/>
              <a:cs typeface="Nirmala UI" panose="020B0502040204020203" pitchFamily="34" charset="0"/>
            </a:endParaRPr>
          </a:p>
        </p:txBody>
      </p:sp>
      <p:sp>
        <p:nvSpPr>
          <p:cNvPr id="29" name="Shape 27"/>
          <p:cNvSpPr/>
          <p:nvPr/>
        </p:nvSpPr>
        <p:spPr>
          <a:xfrm>
            <a:off x="7497842" y="6086832"/>
            <a:ext cx="548045" cy="22860"/>
          </a:xfrm>
          <a:prstGeom prst="roundRect">
            <a:avLst>
              <a:gd name="adj" fmla="val 119880"/>
            </a:avLst>
          </a:prstGeom>
          <a:solidFill>
            <a:srgbClr val="D9CECE"/>
          </a:solidFill>
          <a:ln/>
        </p:spPr>
      </p:sp>
      <p:sp>
        <p:nvSpPr>
          <p:cNvPr id="30" name="Shape 28"/>
          <p:cNvSpPr/>
          <p:nvPr/>
        </p:nvSpPr>
        <p:spPr>
          <a:xfrm>
            <a:off x="7109698" y="5892760"/>
            <a:ext cx="411004" cy="411004"/>
          </a:xfrm>
          <a:prstGeom prst="roundRect">
            <a:avLst>
              <a:gd name="adj" fmla="val 6668"/>
            </a:avLst>
          </a:prstGeom>
          <a:solidFill>
            <a:srgbClr val="F3E8E8"/>
          </a:solidFill>
          <a:ln/>
        </p:spPr>
      </p:sp>
      <p:sp>
        <p:nvSpPr>
          <p:cNvPr id="31" name="Text 29"/>
          <p:cNvSpPr/>
          <p:nvPr/>
        </p:nvSpPr>
        <p:spPr>
          <a:xfrm>
            <a:off x="7186255" y="5937111"/>
            <a:ext cx="257889" cy="322302"/>
          </a:xfrm>
          <a:prstGeom prst="rect">
            <a:avLst/>
          </a:prstGeom>
          <a:noFill/>
          <a:ln/>
        </p:spPr>
        <p:txBody>
          <a:bodyPr wrap="none" lIns="0" tIns="0" rIns="0" bIns="0" rtlCol="0" anchor="t"/>
          <a:lstStyle/>
          <a:p>
            <a:pPr marL="0" indent="0" algn="ctr">
              <a:lnSpc>
                <a:spcPts val="2000"/>
              </a:lnSpc>
              <a:buNone/>
            </a:pPr>
            <a:r>
              <a:rPr lang="en-US" sz="2000" dirty="0">
                <a:solidFill>
                  <a:srgbClr val="3B3535"/>
                </a:solidFill>
                <a:latin typeface="Red Hat Text" pitchFamily="34" charset="0"/>
                <a:ea typeface="Red Hat Text" pitchFamily="34" charset="-122"/>
                <a:cs typeface="Red Hat Text" pitchFamily="34" charset="-120"/>
              </a:rPr>
              <a:t>6</a:t>
            </a:r>
            <a:endParaRPr lang="en-US" sz="2000" dirty="0"/>
          </a:p>
        </p:txBody>
      </p:sp>
      <p:sp>
        <p:nvSpPr>
          <p:cNvPr id="32" name="Text 30"/>
          <p:cNvSpPr/>
          <p:nvPr/>
        </p:nvSpPr>
        <p:spPr>
          <a:xfrm>
            <a:off x="8228648" y="5869900"/>
            <a:ext cx="2149316" cy="268605"/>
          </a:xfrm>
          <a:prstGeom prst="rect">
            <a:avLst/>
          </a:prstGeom>
          <a:noFill/>
          <a:ln/>
        </p:spPr>
        <p:txBody>
          <a:bodyPr wrap="none" lIns="0" tIns="0" rIns="0" bIns="0" rtlCol="0" anchor="t"/>
          <a:lstStyle/>
          <a:p>
            <a:pPr marL="0" indent="0" algn="l">
              <a:lnSpc>
                <a:spcPts val="2100"/>
              </a:lnSpc>
              <a:buNone/>
            </a:pPr>
            <a:r>
              <a:rPr lang="en-US" sz="1650" dirty="0">
                <a:solidFill>
                  <a:srgbClr val="3B3535"/>
                </a:solidFill>
                <a:latin typeface="Red Hat Text" pitchFamily="34" charset="0"/>
                <a:ea typeface="Red Hat Text" pitchFamily="34" charset="-122"/>
                <a:cs typeface="Red Hat Text" pitchFamily="34" charset="-120"/>
              </a:rPr>
              <a:t>Ludo</a:t>
            </a:r>
            <a:endParaRPr lang="en-US" sz="1650" dirty="0"/>
          </a:p>
        </p:txBody>
      </p:sp>
      <p:sp>
        <p:nvSpPr>
          <p:cNvPr id="33" name="Text 31"/>
          <p:cNvSpPr/>
          <p:nvPr/>
        </p:nvSpPr>
        <p:spPr>
          <a:xfrm>
            <a:off x="8228648" y="6248043"/>
            <a:ext cx="5762387" cy="584359"/>
          </a:xfrm>
          <a:prstGeom prst="rect">
            <a:avLst/>
          </a:prstGeom>
          <a:noFill/>
          <a:ln/>
        </p:spPr>
        <p:txBody>
          <a:bodyPr wrap="square" lIns="0" tIns="0" rIns="0" bIns="0" rtlCol="0" anchor="t"/>
          <a:lstStyle/>
          <a:p>
            <a:pPr marL="0" indent="0">
              <a:lnSpc>
                <a:spcPts val="2300"/>
              </a:lnSpc>
              <a:buNone/>
            </a:pPr>
            <a:r>
              <a:rPr lang="en-US" sz="1400" b="1" dirty="0">
                <a:solidFill>
                  <a:srgbClr val="3B3535"/>
                </a:solidFill>
                <a:latin typeface="Nirmala UI Semilight" panose="020B0402040204020203" pitchFamily="34" charset="0"/>
                <a:ea typeface="Nirmala UI Semilight" panose="020B0402040204020203" pitchFamily="34" charset="0"/>
                <a:cs typeface="Nirmala UI Semilight" panose="020B0402040204020203" pitchFamily="34" charset="0"/>
              </a:rPr>
              <a:t>Working on it …!!!</a:t>
            </a:r>
            <a:endParaRPr lang="en-US" sz="14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4" name="Text 32"/>
          <p:cNvSpPr/>
          <p:nvPr/>
        </p:nvSpPr>
        <p:spPr>
          <a:xfrm>
            <a:off x="639366" y="7354372"/>
            <a:ext cx="13351669" cy="292179"/>
          </a:xfrm>
          <a:prstGeom prst="rect">
            <a:avLst/>
          </a:prstGeom>
          <a:noFill/>
          <a:ln/>
        </p:spPr>
        <p:txBody>
          <a:bodyPr wrap="none" lIns="0" tIns="0" rIns="0" bIns="0" rtlCol="0" anchor="t"/>
          <a:lstStyle/>
          <a:p>
            <a:pPr marL="0" indent="0" algn="l">
              <a:lnSpc>
                <a:spcPts val="2300"/>
              </a:lnSpc>
              <a:buNone/>
            </a:pPr>
            <a:r>
              <a:rPr lang="en-US" sz="1400" dirty="0">
                <a:solidFill>
                  <a:srgbClr val="3B3535"/>
                </a:solidFill>
                <a:latin typeface="Roboto Light" pitchFamily="34" charset="0"/>
                <a:ea typeface="Roboto Light" pitchFamily="34" charset="-122"/>
                <a:cs typeface="Roboto Light" pitchFamily="34" charset="-120"/>
              </a:rPr>
              <a:t>All game logic is handled in Java using in-app memory, eliminating the need for an external database. This approach ensures smooth and efficient gameplay.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2701" y="513993"/>
            <a:ext cx="4388644" cy="548521"/>
          </a:xfrm>
          <a:prstGeom prst="rect">
            <a:avLst/>
          </a:prstGeom>
          <a:noFill/>
          <a:ln/>
        </p:spPr>
        <p:txBody>
          <a:bodyPr wrap="none" lIns="0" tIns="0" rIns="0" bIns="0" rtlCol="0" anchor="t"/>
          <a:lstStyle/>
          <a:p>
            <a:pPr marL="0" indent="0" algn="l">
              <a:lnSpc>
                <a:spcPts val="4300"/>
              </a:lnSpc>
              <a:buNone/>
            </a:pPr>
            <a:r>
              <a:rPr lang="en-US" sz="3450" dirty="0">
                <a:solidFill>
                  <a:srgbClr val="1F1E1E"/>
                </a:solidFill>
                <a:latin typeface="Red Hat Text" pitchFamily="34" charset="0"/>
                <a:ea typeface="Red Hat Text" pitchFamily="34" charset="-122"/>
                <a:cs typeface="Red Hat Text" pitchFamily="34" charset="-120"/>
              </a:rPr>
              <a:t>Live Demo</a:t>
            </a:r>
            <a:endParaRPr lang="en-US" sz="3450" dirty="0"/>
          </a:p>
        </p:txBody>
      </p:sp>
      <p:pic>
        <p:nvPicPr>
          <p:cNvPr id="3" name="Image 0" descr="preencoded.png"/>
          <p:cNvPicPr>
            <a:picLocks noChangeAspect="1"/>
          </p:cNvPicPr>
          <p:nvPr/>
        </p:nvPicPr>
        <p:blipFill>
          <a:blip r:embed="rId3"/>
          <a:stretch>
            <a:fillRect/>
          </a:stretch>
        </p:blipFill>
        <p:spPr>
          <a:xfrm>
            <a:off x="3324344" y="1435537"/>
            <a:ext cx="1319093" cy="1057394"/>
          </a:xfrm>
          <a:prstGeom prst="rect">
            <a:avLst/>
          </a:prstGeom>
        </p:spPr>
      </p:pic>
      <p:sp>
        <p:nvSpPr>
          <p:cNvPr id="4" name="Text 1"/>
          <p:cNvSpPr/>
          <p:nvPr/>
        </p:nvSpPr>
        <p:spPr>
          <a:xfrm>
            <a:off x="3852743" y="1930956"/>
            <a:ext cx="262176" cy="327779"/>
          </a:xfrm>
          <a:prstGeom prst="rect">
            <a:avLst/>
          </a:prstGeom>
          <a:noFill/>
          <a:ln/>
        </p:spPr>
        <p:txBody>
          <a:bodyPr wrap="none" lIns="0" tIns="0" rIns="0" bIns="0" rtlCol="0" anchor="t"/>
          <a:lstStyle/>
          <a:p>
            <a:pPr marL="0" indent="0" algn="ctr">
              <a:lnSpc>
                <a:spcPts val="3300"/>
              </a:lnSpc>
              <a:buNone/>
            </a:pPr>
            <a:r>
              <a:rPr lang="en-US" sz="2050" dirty="0">
                <a:solidFill>
                  <a:srgbClr val="3B3535"/>
                </a:solidFill>
                <a:latin typeface="Red Hat Text" pitchFamily="34" charset="0"/>
                <a:ea typeface="Red Hat Text" pitchFamily="34" charset="-122"/>
                <a:cs typeface="Red Hat Text" pitchFamily="34" charset="-120"/>
              </a:rPr>
              <a:t>1</a:t>
            </a:r>
            <a:endParaRPr lang="en-US" sz="2050" dirty="0"/>
          </a:p>
        </p:txBody>
      </p:sp>
      <p:sp>
        <p:nvSpPr>
          <p:cNvPr id="5" name="Text 2"/>
          <p:cNvSpPr/>
          <p:nvPr/>
        </p:nvSpPr>
        <p:spPr>
          <a:xfrm>
            <a:off x="4829889" y="1621988"/>
            <a:ext cx="1520904" cy="274201"/>
          </a:xfrm>
          <a:prstGeom prst="rect">
            <a:avLst/>
          </a:prstGeom>
          <a:noFill/>
          <a:ln/>
        </p:spPr>
        <p:txBody>
          <a:bodyPr wrap="none" lIns="0" tIns="0" rIns="0" bIns="0" rtlCol="0" anchor="t"/>
          <a:lstStyle/>
          <a:p>
            <a:pPr marL="0" indent="0" algn="l">
              <a:lnSpc>
                <a:spcPts val="2150"/>
              </a:lnSpc>
              <a:buNone/>
            </a:pPr>
            <a:r>
              <a:rPr lang="en-US" sz="1700" dirty="0">
                <a:solidFill>
                  <a:srgbClr val="3B3535"/>
                </a:solidFill>
                <a:latin typeface="Red Hat Text" pitchFamily="34" charset="0"/>
                <a:ea typeface="Red Hat Text" pitchFamily="34" charset="-122"/>
                <a:cs typeface="Red Hat Text" pitchFamily="34" charset="-120"/>
              </a:rPr>
              <a:t>Sound Memory</a:t>
            </a:r>
            <a:endParaRPr lang="en-US" sz="1700" dirty="0"/>
          </a:p>
        </p:txBody>
      </p:sp>
      <p:sp>
        <p:nvSpPr>
          <p:cNvPr id="6" name="Text 3"/>
          <p:cNvSpPr/>
          <p:nvPr/>
        </p:nvSpPr>
        <p:spPr>
          <a:xfrm>
            <a:off x="4829889" y="2007989"/>
            <a:ext cx="1520904" cy="298490"/>
          </a:xfrm>
          <a:prstGeom prst="rect">
            <a:avLst/>
          </a:prstGeom>
          <a:noFill/>
          <a:ln/>
        </p:spPr>
        <p:txBody>
          <a:bodyPr wrap="none" lIns="0" tIns="0" rIns="0" bIns="0" rtlCol="0" anchor="t"/>
          <a:lstStyle/>
          <a:p>
            <a:pPr marL="0" indent="0" algn="l">
              <a:lnSpc>
                <a:spcPts val="2300"/>
              </a:lnSpc>
              <a:buNone/>
            </a:pPr>
            <a:r>
              <a:rPr lang="en-US" sz="1450" dirty="0">
                <a:solidFill>
                  <a:srgbClr val="3B3535"/>
                </a:solidFill>
                <a:latin typeface="Roboto Light" pitchFamily="34" charset="0"/>
                <a:ea typeface="Roboto Light" pitchFamily="34" charset="-122"/>
                <a:cs typeface="Roboto Light" pitchFamily="34" charset="-120"/>
              </a:rPr>
              <a:t>Match sound pairs</a:t>
            </a:r>
            <a:endParaRPr lang="en-US" sz="1450" dirty="0"/>
          </a:p>
        </p:txBody>
      </p:sp>
      <p:sp>
        <p:nvSpPr>
          <p:cNvPr id="7" name="Shape 4"/>
          <p:cNvSpPr/>
          <p:nvPr/>
        </p:nvSpPr>
        <p:spPr>
          <a:xfrm>
            <a:off x="4689991" y="2506623"/>
            <a:ext cx="9241155" cy="11430"/>
          </a:xfrm>
          <a:prstGeom prst="roundRect">
            <a:avLst>
              <a:gd name="adj" fmla="val 244776"/>
            </a:avLst>
          </a:prstGeom>
          <a:solidFill>
            <a:srgbClr val="D9CECE"/>
          </a:solidFill>
          <a:ln/>
        </p:spPr>
      </p:sp>
      <p:pic>
        <p:nvPicPr>
          <p:cNvPr id="8" name="Image 1" descr="preencoded.png"/>
          <p:cNvPicPr>
            <a:picLocks noChangeAspect="1"/>
          </p:cNvPicPr>
          <p:nvPr/>
        </p:nvPicPr>
        <p:blipFill>
          <a:blip r:embed="rId4"/>
          <a:stretch>
            <a:fillRect/>
          </a:stretch>
        </p:blipFill>
        <p:spPr>
          <a:xfrm>
            <a:off x="2664738" y="2539484"/>
            <a:ext cx="2638306" cy="1057394"/>
          </a:xfrm>
          <a:prstGeom prst="rect">
            <a:avLst/>
          </a:prstGeom>
        </p:spPr>
      </p:pic>
      <p:sp>
        <p:nvSpPr>
          <p:cNvPr id="9" name="Text 5"/>
          <p:cNvSpPr/>
          <p:nvPr/>
        </p:nvSpPr>
        <p:spPr>
          <a:xfrm>
            <a:off x="3852743" y="2904292"/>
            <a:ext cx="262176" cy="327779"/>
          </a:xfrm>
          <a:prstGeom prst="rect">
            <a:avLst/>
          </a:prstGeom>
          <a:noFill/>
          <a:ln/>
        </p:spPr>
        <p:txBody>
          <a:bodyPr wrap="none" lIns="0" tIns="0" rIns="0" bIns="0" rtlCol="0" anchor="t"/>
          <a:lstStyle/>
          <a:p>
            <a:pPr marL="0" indent="0" algn="ctr">
              <a:lnSpc>
                <a:spcPts val="3300"/>
              </a:lnSpc>
              <a:buNone/>
            </a:pPr>
            <a:r>
              <a:rPr lang="en-US" sz="2050" dirty="0">
                <a:solidFill>
                  <a:srgbClr val="3B3535"/>
                </a:solidFill>
                <a:latin typeface="Red Hat Text" pitchFamily="34" charset="0"/>
                <a:ea typeface="Red Hat Text" pitchFamily="34" charset="-122"/>
                <a:cs typeface="Red Hat Text" pitchFamily="34" charset="-120"/>
              </a:rPr>
              <a:t>2</a:t>
            </a:r>
            <a:endParaRPr lang="en-US" sz="2050" dirty="0"/>
          </a:p>
        </p:txBody>
      </p:sp>
      <p:sp>
        <p:nvSpPr>
          <p:cNvPr id="10" name="Text 6"/>
          <p:cNvSpPr/>
          <p:nvPr/>
        </p:nvSpPr>
        <p:spPr>
          <a:xfrm>
            <a:off x="5489496" y="2725936"/>
            <a:ext cx="1374100" cy="274201"/>
          </a:xfrm>
          <a:prstGeom prst="rect">
            <a:avLst/>
          </a:prstGeom>
          <a:noFill/>
          <a:ln/>
        </p:spPr>
        <p:txBody>
          <a:bodyPr wrap="none" lIns="0" tIns="0" rIns="0" bIns="0" rtlCol="0" anchor="t"/>
          <a:lstStyle/>
          <a:p>
            <a:pPr marL="0" indent="0" algn="l">
              <a:lnSpc>
                <a:spcPts val="2150"/>
              </a:lnSpc>
              <a:buNone/>
            </a:pPr>
            <a:r>
              <a:rPr lang="en-US" sz="1700" dirty="0">
                <a:solidFill>
                  <a:srgbClr val="3B3535"/>
                </a:solidFill>
                <a:latin typeface="Red Hat Text" pitchFamily="34" charset="0"/>
                <a:ea typeface="Red Hat Text" pitchFamily="34" charset="-122"/>
                <a:cs typeface="Red Hat Text" pitchFamily="34" charset="-120"/>
              </a:rPr>
              <a:t>Card Memory</a:t>
            </a:r>
            <a:endParaRPr lang="en-US" sz="1700" dirty="0"/>
          </a:p>
        </p:txBody>
      </p:sp>
      <p:sp>
        <p:nvSpPr>
          <p:cNvPr id="11" name="Text 7"/>
          <p:cNvSpPr/>
          <p:nvPr/>
        </p:nvSpPr>
        <p:spPr>
          <a:xfrm>
            <a:off x="5489496" y="3111937"/>
            <a:ext cx="1374100" cy="298490"/>
          </a:xfrm>
          <a:prstGeom prst="rect">
            <a:avLst/>
          </a:prstGeom>
          <a:noFill/>
          <a:ln/>
        </p:spPr>
        <p:txBody>
          <a:bodyPr wrap="none" lIns="0" tIns="0" rIns="0" bIns="0" rtlCol="0" anchor="t"/>
          <a:lstStyle/>
          <a:p>
            <a:pPr marL="0" indent="0" algn="l">
              <a:lnSpc>
                <a:spcPts val="2300"/>
              </a:lnSpc>
              <a:buNone/>
            </a:pPr>
            <a:r>
              <a:rPr lang="en-US" sz="1450" dirty="0">
                <a:solidFill>
                  <a:srgbClr val="3B3535"/>
                </a:solidFill>
                <a:latin typeface="Roboto Light" pitchFamily="34" charset="0"/>
                <a:ea typeface="Roboto Light" pitchFamily="34" charset="-122"/>
                <a:cs typeface="Roboto Light" pitchFamily="34" charset="-120"/>
              </a:rPr>
              <a:t>Match card pairs</a:t>
            </a:r>
            <a:endParaRPr lang="en-US" sz="1450" dirty="0"/>
          </a:p>
        </p:txBody>
      </p:sp>
      <p:sp>
        <p:nvSpPr>
          <p:cNvPr id="12" name="Shape 8"/>
          <p:cNvSpPr/>
          <p:nvPr/>
        </p:nvSpPr>
        <p:spPr>
          <a:xfrm>
            <a:off x="5349597" y="3610570"/>
            <a:ext cx="8581549" cy="11430"/>
          </a:xfrm>
          <a:prstGeom prst="roundRect">
            <a:avLst>
              <a:gd name="adj" fmla="val 244776"/>
            </a:avLst>
          </a:prstGeom>
          <a:solidFill>
            <a:srgbClr val="D9CECE"/>
          </a:solidFill>
          <a:ln/>
        </p:spPr>
      </p:sp>
      <p:pic>
        <p:nvPicPr>
          <p:cNvPr id="13" name="Image 2" descr="preencoded.png"/>
          <p:cNvPicPr>
            <a:picLocks noChangeAspect="1"/>
          </p:cNvPicPr>
          <p:nvPr/>
        </p:nvPicPr>
        <p:blipFill>
          <a:blip r:embed="rId5"/>
          <a:stretch>
            <a:fillRect/>
          </a:stretch>
        </p:blipFill>
        <p:spPr>
          <a:xfrm>
            <a:off x="2005132" y="3643432"/>
            <a:ext cx="3957518" cy="1057394"/>
          </a:xfrm>
          <a:prstGeom prst="rect">
            <a:avLst/>
          </a:prstGeom>
        </p:spPr>
      </p:pic>
      <p:sp>
        <p:nvSpPr>
          <p:cNvPr id="14" name="Text 9"/>
          <p:cNvSpPr/>
          <p:nvPr/>
        </p:nvSpPr>
        <p:spPr>
          <a:xfrm>
            <a:off x="3852743" y="4008239"/>
            <a:ext cx="262176" cy="327779"/>
          </a:xfrm>
          <a:prstGeom prst="rect">
            <a:avLst/>
          </a:prstGeom>
          <a:noFill/>
          <a:ln/>
        </p:spPr>
        <p:txBody>
          <a:bodyPr wrap="none" lIns="0" tIns="0" rIns="0" bIns="0" rtlCol="0" anchor="t"/>
          <a:lstStyle/>
          <a:p>
            <a:pPr marL="0" indent="0" algn="ctr">
              <a:lnSpc>
                <a:spcPts val="3300"/>
              </a:lnSpc>
              <a:buNone/>
            </a:pPr>
            <a:r>
              <a:rPr lang="en-US" sz="2050" dirty="0">
                <a:solidFill>
                  <a:srgbClr val="3B3535"/>
                </a:solidFill>
                <a:latin typeface="Red Hat Text" pitchFamily="34" charset="0"/>
                <a:ea typeface="Red Hat Text" pitchFamily="34" charset="-122"/>
                <a:cs typeface="Red Hat Text" pitchFamily="34" charset="-120"/>
              </a:rPr>
              <a:t>3</a:t>
            </a:r>
            <a:endParaRPr lang="en-US" sz="2050" dirty="0"/>
          </a:p>
        </p:txBody>
      </p:sp>
      <p:sp>
        <p:nvSpPr>
          <p:cNvPr id="15" name="Text 10"/>
          <p:cNvSpPr/>
          <p:nvPr/>
        </p:nvSpPr>
        <p:spPr>
          <a:xfrm>
            <a:off x="6149102" y="3829883"/>
            <a:ext cx="1457920" cy="274201"/>
          </a:xfrm>
          <a:prstGeom prst="rect">
            <a:avLst/>
          </a:prstGeom>
          <a:noFill/>
          <a:ln/>
        </p:spPr>
        <p:txBody>
          <a:bodyPr wrap="none" lIns="0" tIns="0" rIns="0" bIns="0" rtlCol="0" anchor="t"/>
          <a:lstStyle/>
          <a:p>
            <a:pPr marL="0" indent="0" algn="l">
              <a:lnSpc>
                <a:spcPts val="2150"/>
              </a:lnSpc>
              <a:buNone/>
            </a:pPr>
            <a:r>
              <a:rPr lang="en-US" sz="1700" dirty="0">
                <a:solidFill>
                  <a:srgbClr val="3B3535"/>
                </a:solidFill>
                <a:latin typeface="Red Hat Text" pitchFamily="34" charset="0"/>
                <a:ea typeface="Red Hat Text" pitchFamily="34" charset="-122"/>
                <a:cs typeface="Red Hat Text" pitchFamily="34" charset="-120"/>
              </a:rPr>
              <a:t>Tic-Tac-Toe</a:t>
            </a:r>
            <a:endParaRPr lang="en-US" sz="1700" dirty="0"/>
          </a:p>
        </p:txBody>
      </p:sp>
      <p:sp>
        <p:nvSpPr>
          <p:cNvPr id="16" name="Text 11"/>
          <p:cNvSpPr/>
          <p:nvPr/>
        </p:nvSpPr>
        <p:spPr>
          <a:xfrm>
            <a:off x="6149102" y="4215884"/>
            <a:ext cx="1457920" cy="298490"/>
          </a:xfrm>
          <a:prstGeom prst="rect">
            <a:avLst/>
          </a:prstGeom>
          <a:noFill/>
          <a:ln/>
        </p:spPr>
        <p:txBody>
          <a:bodyPr wrap="none" lIns="0" tIns="0" rIns="0" bIns="0" rtlCol="0" anchor="t"/>
          <a:lstStyle/>
          <a:p>
            <a:pPr marL="0" indent="0" algn="l">
              <a:lnSpc>
                <a:spcPts val="2300"/>
              </a:lnSpc>
              <a:buNone/>
            </a:pPr>
            <a:r>
              <a:rPr lang="en-US" sz="1450" dirty="0">
                <a:solidFill>
                  <a:srgbClr val="3B3535"/>
                </a:solidFill>
                <a:latin typeface="Roboto Light" pitchFamily="34" charset="0"/>
                <a:ea typeface="Roboto Light" pitchFamily="34" charset="-122"/>
                <a:cs typeface="Roboto Light" pitchFamily="34" charset="-120"/>
              </a:rPr>
              <a:t>Classic grid game</a:t>
            </a:r>
            <a:endParaRPr lang="en-US" sz="1450" dirty="0"/>
          </a:p>
        </p:txBody>
      </p:sp>
      <p:sp>
        <p:nvSpPr>
          <p:cNvPr id="17" name="Shape 12"/>
          <p:cNvSpPr/>
          <p:nvPr/>
        </p:nvSpPr>
        <p:spPr>
          <a:xfrm>
            <a:off x="6009203" y="4714518"/>
            <a:ext cx="7921943" cy="11430"/>
          </a:xfrm>
          <a:prstGeom prst="roundRect">
            <a:avLst>
              <a:gd name="adj" fmla="val 244776"/>
            </a:avLst>
          </a:prstGeom>
          <a:solidFill>
            <a:srgbClr val="D9CECE"/>
          </a:solidFill>
          <a:ln/>
        </p:spPr>
      </p:sp>
      <p:pic>
        <p:nvPicPr>
          <p:cNvPr id="18" name="Image 3" descr="preencoded.png"/>
          <p:cNvPicPr>
            <a:picLocks noChangeAspect="1"/>
          </p:cNvPicPr>
          <p:nvPr/>
        </p:nvPicPr>
        <p:blipFill>
          <a:blip r:embed="rId6"/>
          <a:stretch>
            <a:fillRect/>
          </a:stretch>
        </p:blipFill>
        <p:spPr>
          <a:xfrm>
            <a:off x="1345525" y="4747379"/>
            <a:ext cx="5276612" cy="1057394"/>
          </a:xfrm>
          <a:prstGeom prst="rect">
            <a:avLst/>
          </a:prstGeom>
        </p:spPr>
      </p:pic>
      <p:sp>
        <p:nvSpPr>
          <p:cNvPr id="19" name="Text 13"/>
          <p:cNvSpPr/>
          <p:nvPr/>
        </p:nvSpPr>
        <p:spPr>
          <a:xfrm>
            <a:off x="3852743" y="5112187"/>
            <a:ext cx="262176" cy="327779"/>
          </a:xfrm>
          <a:prstGeom prst="rect">
            <a:avLst/>
          </a:prstGeom>
          <a:noFill/>
          <a:ln/>
        </p:spPr>
        <p:txBody>
          <a:bodyPr wrap="none" lIns="0" tIns="0" rIns="0" bIns="0" rtlCol="0" anchor="t"/>
          <a:lstStyle/>
          <a:p>
            <a:pPr marL="0" indent="0" algn="ctr">
              <a:lnSpc>
                <a:spcPts val="3300"/>
              </a:lnSpc>
              <a:buNone/>
            </a:pPr>
            <a:r>
              <a:rPr lang="en-US" sz="2050" dirty="0">
                <a:solidFill>
                  <a:srgbClr val="3B3535"/>
                </a:solidFill>
                <a:latin typeface="Red Hat Text" pitchFamily="34" charset="0"/>
                <a:ea typeface="Red Hat Text" pitchFamily="34" charset="-122"/>
                <a:cs typeface="Red Hat Text" pitchFamily="34" charset="-120"/>
              </a:rPr>
              <a:t>4</a:t>
            </a:r>
            <a:endParaRPr lang="en-US" sz="2050" dirty="0"/>
          </a:p>
        </p:txBody>
      </p:sp>
      <p:sp>
        <p:nvSpPr>
          <p:cNvPr id="20" name="Text 14"/>
          <p:cNvSpPr/>
          <p:nvPr/>
        </p:nvSpPr>
        <p:spPr>
          <a:xfrm>
            <a:off x="6808589" y="4933831"/>
            <a:ext cx="1988701" cy="274201"/>
          </a:xfrm>
          <a:prstGeom prst="rect">
            <a:avLst/>
          </a:prstGeom>
          <a:noFill/>
          <a:ln/>
        </p:spPr>
        <p:txBody>
          <a:bodyPr wrap="none" lIns="0" tIns="0" rIns="0" bIns="0" rtlCol="0" anchor="t"/>
          <a:lstStyle/>
          <a:p>
            <a:pPr marL="0" indent="0" algn="l">
              <a:lnSpc>
                <a:spcPts val="2150"/>
              </a:lnSpc>
              <a:buNone/>
            </a:pPr>
            <a:r>
              <a:rPr lang="en-US" sz="1700" dirty="0">
                <a:solidFill>
                  <a:srgbClr val="3B3535"/>
                </a:solidFill>
                <a:latin typeface="Red Hat Text" pitchFamily="34" charset="0"/>
                <a:ea typeface="Red Hat Text" pitchFamily="34" charset="-122"/>
                <a:cs typeface="Red Hat Text" pitchFamily="34" charset="-120"/>
              </a:rPr>
              <a:t>Color Hunt</a:t>
            </a:r>
            <a:endParaRPr lang="en-US" sz="1700" dirty="0"/>
          </a:p>
        </p:txBody>
      </p:sp>
      <p:sp>
        <p:nvSpPr>
          <p:cNvPr id="21" name="Text 15"/>
          <p:cNvSpPr/>
          <p:nvPr/>
        </p:nvSpPr>
        <p:spPr>
          <a:xfrm>
            <a:off x="6808589" y="5319832"/>
            <a:ext cx="1988701" cy="298490"/>
          </a:xfrm>
          <a:prstGeom prst="rect">
            <a:avLst/>
          </a:prstGeom>
          <a:noFill/>
          <a:ln/>
        </p:spPr>
        <p:txBody>
          <a:bodyPr wrap="none" lIns="0" tIns="0" rIns="0" bIns="0" rtlCol="0" anchor="t"/>
          <a:lstStyle/>
          <a:p>
            <a:pPr marL="0" indent="0" algn="l">
              <a:lnSpc>
                <a:spcPts val="2300"/>
              </a:lnSpc>
              <a:buNone/>
            </a:pPr>
            <a:r>
              <a:rPr lang="en-US" sz="1450" dirty="0">
                <a:solidFill>
                  <a:srgbClr val="3B3535"/>
                </a:solidFill>
                <a:latin typeface="Roboto Light" pitchFamily="34" charset="0"/>
                <a:ea typeface="Roboto Light" pitchFamily="34" charset="-122"/>
                <a:cs typeface="Roboto Light" pitchFamily="34" charset="-120"/>
              </a:rPr>
              <a:t>Identify color sequences</a:t>
            </a:r>
            <a:endParaRPr lang="en-US" sz="1450" dirty="0"/>
          </a:p>
        </p:txBody>
      </p:sp>
      <p:sp>
        <p:nvSpPr>
          <p:cNvPr id="22" name="Shape 16"/>
          <p:cNvSpPr/>
          <p:nvPr/>
        </p:nvSpPr>
        <p:spPr>
          <a:xfrm>
            <a:off x="6668691" y="5818465"/>
            <a:ext cx="7262455" cy="11430"/>
          </a:xfrm>
          <a:prstGeom prst="roundRect">
            <a:avLst>
              <a:gd name="adj" fmla="val 244776"/>
            </a:avLst>
          </a:prstGeom>
          <a:solidFill>
            <a:srgbClr val="D9CECE"/>
          </a:solidFill>
          <a:ln/>
        </p:spPr>
      </p:sp>
      <p:pic>
        <p:nvPicPr>
          <p:cNvPr id="23" name="Image 4" descr="preencoded.png"/>
          <p:cNvPicPr>
            <a:picLocks noChangeAspect="1"/>
          </p:cNvPicPr>
          <p:nvPr/>
        </p:nvPicPr>
        <p:blipFill>
          <a:blip r:embed="rId7"/>
          <a:stretch>
            <a:fillRect/>
          </a:stretch>
        </p:blipFill>
        <p:spPr>
          <a:xfrm>
            <a:off x="685919" y="5851327"/>
            <a:ext cx="6595824" cy="1057394"/>
          </a:xfrm>
          <a:prstGeom prst="rect">
            <a:avLst/>
          </a:prstGeom>
        </p:spPr>
      </p:pic>
      <p:sp>
        <p:nvSpPr>
          <p:cNvPr id="24" name="Text 17"/>
          <p:cNvSpPr/>
          <p:nvPr/>
        </p:nvSpPr>
        <p:spPr>
          <a:xfrm>
            <a:off x="3852743" y="6216134"/>
            <a:ext cx="262176" cy="327779"/>
          </a:xfrm>
          <a:prstGeom prst="rect">
            <a:avLst/>
          </a:prstGeom>
          <a:noFill/>
          <a:ln/>
        </p:spPr>
        <p:txBody>
          <a:bodyPr wrap="none" lIns="0" tIns="0" rIns="0" bIns="0" rtlCol="0" anchor="t"/>
          <a:lstStyle/>
          <a:p>
            <a:pPr marL="0" indent="0" algn="ctr">
              <a:lnSpc>
                <a:spcPts val="3300"/>
              </a:lnSpc>
              <a:buNone/>
            </a:pPr>
            <a:r>
              <a:rPr lang="en-US" sz="2050" dirty="0">
                <a:solidFill>
                  <a:srgbClr val="3B3535"/>
                </a:solidFill>
                <a:latin typeface="Red Hat Text" pitchFamily="34" charset="0"/>
                <a:ea typeface="Red Hat Text" pitchFamily="34" charset="-122"/>
                <a:cs typeface="Red Hat Text" pitchFamily="34" charset="-120"/>
              </a:rPr>
              <a:t>5</a:t>
            </a:r>
            <a:endParaRPr lang="en-US" sz="2050" dirty="0"/>
          </a:p>
        </p:txBody>
      </p:sp>
      <p:sp>
        <p:nvSpPr>
          <p:cNvPr id="25" name="Text 18"/>
          <p:cNvSpPr/>
          <p:nvPr/>
        </p:nvSpPr>
        <p:spPr>
          <a:xfrm>
            <a:off x="7468195" y="6037778"/>
            <a:ext cx="1450658" cy="274201"/>
          </a:xfrm>
          <a:prstGeom prst="rect">
            <a:avLst/>
          </a:prstGeom>
          <a:noFill/>
          <a:ln/>
        </p:spPr>
        <p:txBody>
          <a:bodyPr wrap="none" lIns="0" tIns="0" rIns="0" bIns="0" rtlCol="0" anchor="t"/>
          <a:lstStyle/>
          <a:p>
            <a:pPr marL="0" indent="0" algn="l">
              <a:lnSpc>
                <a:spcPts val="2150"/>
              </a:lnSpc>
              <a:buNone/>
            </a:pPr>
            <a:r>
              <a:rPr lang="en-US" sz="1700" dirty="0">
                <a:solidFill>
                  <a:srgbClr val="3B3535"/>
                </a:solidFill>
                <a:latin typeface="Red Hat Text" pitchFamily="34" charset="0"/>
                <a:ea typeface="Red Hat Text" pitchFamily="34" charset="-122"/>
                <a:cs typeface="Red Hat Text" pitchFamily="34" charset="-120"/>
              </a:rPr>
              <a:t>Sudoku</a:t>
            </a:r>
            <a:endParaRPr lang="en-US" sz="1700" dirty="0"/>
          </a:p>
        </p:txBody>
      </p:sp>
      <p:sp>
        <p:nvSpPr>
          <p:cNvPr id="26" name="Text 19"/>
          <p:cNvSpPr/>
          <p:nvPr/>
        </p:nvSpPr>
        <p:spPr>
          <a:xfrm>
            <a:off x="7468195" y="6423779"/>
            <a:ext cx="1450658" cy="298490"/>
          </a:xfrm>
          <a:prstGeom prst="rect">
            <a:avLst/>
          </a:prstGeom>
          <a:noFill/>
          <a:ln/>
        </p:spPr>
        <p:txBody>
          <a:bodyPr wrap="none" lIns="0" tIns="0" rIns="0" bIns="0" rtlCol="0" anchor="t"/>
          <a:lstStyle/>
          <a:p>
            <a:pPr marL="0" indent="0" algn="l">
              <a:lnSpc>
                <a:spcPts val="2300"/>
              </a:lnSpc>
              <a:buNone/>
            </a:pPr>
            <a:r>
              <a:rPr lang="en-US" sz="1450" dirty="0">
                <a:solidFill>
                  <a:srgbClr val="3B3535"/>
                </a:solidFill>
                <a:latin typeface="Roboto Light" pitchFamily="34" charset="0"/>
                <a:ea typeface="Roboto Light" pitchFamily="34" charset="-122"/>
                <a:cs typeface="Roboto Light" pitchFamily="34" charset="-120"/>
              </a:rPr>
              <a:t>Complete the grid</a:t>
            </a:r>
            <a:endParaRPr lang="en-US" sz="1450" dirty="0"/>
          </a:p>
        </p:txBody>
      </p:sp>
      <p:sp>
        <p:nvSpPr>
          <p:cNvPr id="27" name="Text 20"/>
          <p:cNvSpPr/>
          <p:nvPr/>
        </p:nvSpPr>
        <p:spPr>
          <a:xfrm>
            <a:off x="652701" y="7118509"/>
            <a:ext cx="13324999" cy="596979"/>
          </a:xfrm>
          <a:prstGeom prst="rect">
            <a:avLst/>
          </a:prstGeom>
          <a:noFill/>
          <a:ln/>
        </p:spPr>
        <p:txBody>
          <a:bodyPr wrap="square" lIns="0" tIns="0" rIns="0" bIns="0" rtlCol="0" anchor="t"/>
          <a:lstStyle/>
          <a:p>
            <a:pPr marL="0" indent="0" algn="l">
              <a:lnSpc>
                <a:spcPts val="2300"/>
              </a:lnSpc>
              <a:buNone/>
            </a:pPr>
            <a:r>
              <a:rPr lang="en-US" sz="1450" dirty="0">
                <a:solidFill>
                  <a:srgbClr val="3B3535"/>
                </a:solidFill>
                <a:latin typeface="Roboto Light" pitchFamily="34" charset="0"/>
                <a:ea typeface="Roboto Light" pitchFamily="34" charset="-122"/>
                <a:cs typeface="Roboto Light" pitchFamily="34" charset="-120"/>
              </a:rPr>
              <a:t>Watch a live gameplay demonstration on an Android device showcasing the touch responsiveness and intuitive controls of each game. Experience a quick walkthrough of a typical game session, highlighting the engaging and interactive nature of the collection.</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D427C6-C8AE-338D-2C88-BD47702F085B}"/>
              </a:ext>
            </a:extLst>
          </p:cNvPr>
          <p:cNvPicPr>
            <a:picLocks noChangeAspect="1"/>
          </p:cNvPicPr>
          <p:nvPr/>
        </p:nvPicPr>
        <p:blipFill>
          <a:blip r:embed="rId2"/>
          <a:stretch>
            <a:fillRect/>
          </a:stretch>
        </p:blipFill>
        <p:spPr>
          <a:xfrm>
            <a:off x="2451760" y="209116"/>
            <a:ext cx="3497628" cy="7811368"/>
          </a:xfrm>
          <a:prstGeom prst="rect">
            <a:avLst/>
          </a:prstGeom>
          <a:effectLst>
            <a:glow rad="508000">
              <a:schemeClr val="accent1">
                <a:alpha val="40000"/>
              </a:schemeClr>
            </a:glow>
          </a:effectLst>
        </p:spPr>
      </p:pic>
      <p:pic>
        <p:nvPicPr>
          <p:cNvPr id="5" name="Picture 4">
            <a:extLst>
              <a:ext uri="{FF2B5EF4-FFF2-40B4-BE49-F238E27FC236}">
                <a16:creationId xmlns:a16="http://schemas.microsoft.com/office/drawing/2014/main" id="{B4FD6CDE-89C8-5890-7702-DF7D01A92656}"/>
              </a:ext>
            </a:extLst>
          </p:cNvPr>
          <p:cNvPicPr>
            <a:picLocks noChangeAspect="1"/>
          </p:cNvPicPr>
          <p:nvPr/>
        </p:nvPicPr>
        <p:blipFill>
          <a:blip r:embed="rId3"/>
          <a:stretch>
            <a:fillRect/>
          </a:stretch>
        </p:blipFill>
        <p:spPr>
          <a:xfrm>
            <a:off x="9764920" y="187600"/>
            <a:ext cx="3497628" cy="7811368"/>
          </a:xfrm>
          <a:prstGeom prst="rect">
            <a:avLst/>
          </a:prstGeom>
          <a:effectLst>
            <a:glow rad="508000">
              <a:schemeClr val="accent1">
                <a:alpha val="40000"/>
              </a:schemeClr>
            </a:glow>
          </a:effectLst>
        </p:spPr>
      </p:pic>
      <p:sp>
        <p:nvSpPr>
          <p:cNvPr id="6" name="TextBox 5">
            <a:extLst>
              <a:ext uri="{FF2B5EF4-FFF2-40B4-BE49-F238E27FC236}">
                <a16:creationId xmlns:a16="http://schemas.microsoft.com/office/drawing/2014/main" id="{D68517FB-F55F-5E13-3108-A56E49309360}"/>
              </a:ext>
            </a:extLst>
          </p:cNvPr>
          <p:cNvSpPr txBox="1"/>
          <p:nvPr/>
        </p:nvSpPr>
        <p:spPr>
          <a:xfrm>
            <a:off x="648182" y="2395959"/>
            <a:ext cx="1692579" cy="400110"/>
          </a:xfrm>
          <a:prstGeom prst="rect">
            <a:avLst/>
          </a:prstGeom>
          <a:noFill/>
        </p:spPr>
        <p:txBody>
          <a:bodyPr wrap="none" rtlCol="0">
            <a:spAutoFit/>
          </a:bodyPr>
          <a:lstStyle/>
          <a:p>
            <a:r>
              <a:rPr lang="en-IN" sz="2000" dirty="0">
                <a:latin typeface="Aptos" panose="020B0004020202020204" pitchFamily="34" charset="0"/>
              </a:rPr>
              <a:t>Day Mode ⛅</a:t>
            </a:r>
          </a:p>
        </p:txBody>
      </p:sp>
      <p:sp>
        <p:nvSpPr>
          <p:cNvPr id="7" name="TextBox 6">
            <a:extLst>
              <a:ext uri="{FF2B5EF4-FFF2-40B4-BE49-F238E27FC236}">
                <a16:creationId xmlns:a16="http://schemas.microsoft.com/office/drawing/2014/main" id="{ECBF1B00-A0CB-2385-E37D-BFC78839F32F}"/>
              </a:ext>
            </a:extLst>
          </p:cNvPr>
          <p:cNvSpPr txBox="1"/>
          <p:nvPr/>
        </p:nvSpPr>
        <p:spPr>
          <a:xfrm>
            <a:off x="7315200" y="2395959"/>
            <a:ext cx="1856598" cy="400110"/>
          </a:xfrm>
          <a:prstGeom prst="rect">
            <a:avLst/>
          </a:prstGeom>
          <a:noFill/>
        </p:spPr>
        <p:txBody>
          <a:bodyPr wrap="none" rtlCol="0">
            <a:spAutoFit/>
          </a:bodyPr>
          <a:lstStyle/>
          <a:p>
            <a:r>
              <a:rPr lang="en-IN" sz="2000" dirty="0">
                <a:latin typeface="Aptos" panose="020B0004020202020204" pitchFamily="34" charset="0"/>
              </a:rPr>
              <a:t>Night Mode 🌜</a:t>
            </a:r>
          </a:p>
        </p:txBody>
      </p:sp>
    </p:spTree>
    <p:extLst>
      <p:ext uri="{BB962C8B-B14F-4D97-AF65-F5344CB8AC3E}">
        <p14:creationId xmlns:p14="http://schemas.microsoft.com/office/powerpoint/2010/main" val="394567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429700" y="756780"/>
            <a:ext cx="4702180" cy="7053271"/>
          </a:xfrm>
          <a:prstGeom prst="rect">
            <a:avLst/>
          </a:prstGeom>
        </p:spPr>
      </p:pic>
      <p:sp>
        <p:nvSpPr>
          <p:cNvPr id="3" name="Text 0"/>
          <p:cNvSpPr/>
          <p:nvPr/>
        </p:nvSpPr>
        <p:spPr>
          <a:xfrm>
            <a:off x="772716" y="947380"/>
            <a:ext cx="7598569" cy="1298496"/>
          </a:xfrm>
          <a:prstGeom prst="rect">
            <a:avLst/>
          </a:prstGeom>
          <a:noFill/>
          <a:ln/>
        </p:spPr>
        <p:txBody>
          <a:bodyPr wrap="square" lIns="0" tIns="0" rIns="0" bIns="0" rtlCol="0" anchor="t"/>
          <a:lstStyle/>
          <a:p>
            <a:pPr marL="0" indent="0" algn="l">
              <a:lnSpc>
                <a:spcPts val="5100"/>
              </a:lnSpc>
              <a:buNone/>
            </a:pPr>
            <a:r>
              <a:rPr lang="en-US" sz="4050" dirty="0">
                <a:solidFill>
                  <a:srgbClr val="1F1E1E"/>
                </a:solidFill>
                <a:latin typeface="Red Hat Text" pitchFamily="34" charset="0"/>
                <a:ea typeface="Red Hat Text" pitchFamily="34" charset="-122"/>
                <a:cs typeface="Red Hat Text" pitchFamily="34" charset="-120"/>
              </a:rPr>
              <a:t>Conclusion: Fun Games Collection</a:t>
            </a:r>
            <a:endParaRPr lang="en-US" sz="4050" dirty="0"/>
          </a:p>
        </p:txBody>
      </p:sp>
      <p:sp>
        <p:nvSpPr>
          <p:cNvPr id="4" name="Shape 1"/>
          <p:cNvSpPr/>
          <p:nvPr/>
        </p:nvSpPr>
        <p:spPr>
          <a:xfrm>
            <a:off x="772716" y="2825353"/>
            <a:ext cx="496729" cy="496729"/>
          </a:xfrm>
          <a:prstGeom prst="roundRect">
            <a:avLst>
              <a:gd name="adj" fmla="val 6667"/>
            </a:avLst>
          </a:prstGeom>
          <a:solidFill>
            <a:srgbClr val="F3E8E8"/>
          </a:solidFill>
          <a:ln/>
        </p:spPr>
      </p:sp>
      <p:pic>
        <p:nvPicPr>
          <p:cNvPr id="5" name="Image 1" descr="preencoded.png"/>
          <p:cNvPicPr>
            <a:picLocks noChangeAspect="1"/>
          </p:cNvPicPr>
          <p:nvPr/>
        </p:nvPicPr>
        <p:blipFill>
          <a:blip r:embed="rId4"/>
          <a:stretch>
            <a:fillRect/>
          </a:stretch>
        </p:blipFill>
        <p:spPr>
          <a:xfrm>
            <a:off x="865287" y="2878931"/>
            <a:ext cx="311587" cy="389573"/>
          </a:xfrm>
          <a:prstGeom prst="rect">
            <a:avLst/>
          </a:prstGeom>
        </p:spPr>
      </p:pic>
      <p:sp>
        <p:nvSpPr>
          <p:cNvPr id="6" name="Text 2"/>
          <p:cNvSpPr/>
          <p:nvPr/>
        </p:nvSpPr>
        <p:spPr>
          <a:xfrm>
            <a:off x="1490186" y="2825353"/>
            <a:ext cx="2876788" cy="324683"/>
          </a:xfrm>
          <a:prstGeom prst="rect">
            <a:avLst/>
          </a:prstGeom>
          <a:noFill/>
          <a:ln/>
        </p:spPr>
        <p:txBody>
          <a:bodyPr wrap="none" lIns="0" tIns="0" rIns="0" bIns="0" rtlCol="0" anchor="t"/>
          <a:lstStyle/>
          <a:p>
            <a:pPr marL="0" indent="0" algn="l">
              <a:lnSpc>
                <a:spcPts val="2550"/>
              </a:lnSpc>
              <a:buNone/>
            </a:pPr>
            <a:r>
              <a:rPr lang="en-US" sz="2000" dirty="0">
                <a:solidFill>
                  <a:srgbClr val="3B3535"/>
                </a:solidFill>
                <a:latin typeface="Red Hat Text" pitchFamily="34" charset="0"/>
                <a:ea typeface="Red Hat Text" pitchFamily="34" charset="-122"/>
                <a:cs typeface="Red Hat Text" pitchFamily="34" charset="-120"/>
              </a:rPr>
              <a:t>Engaging and Interactive</a:t>
            </a:r>
            <a:endParaRPr lang="en-US" sz="2000" dirty="0"/>
          </a:p>
        </p:txBody>
      </p:sp>
      <p:sp>
        <p:nvSpPr>
          <p:cNvPr id="7" name="Text 3"/>
          <p:cNvSpPr/>
          <p:nvPr/>
        </p:nvSpPr>
        <p:spPr>
          <a:xfrm>
            <a:off x="1490186" y="3282434"/>
            <a:ext cx="2971443" cy="1059418"/>
          </a:xfrm>
          <a:prstGeom prst="rect">
            <a:avLst/>
          </a:prstGeom>
          <a:noFill/>
          <a:ln/>
        </p:spPr>
        <p:txBody>
          <a:bodyPr wrap="square" lIns="0" tIns="0" rIns="0" bIns="0" rtlCol="0" anchor="t"/>
          <a:lstStyle/>
          <a:p>
            <a:pPr marL="0" indent="0" algn="l">
              <a:lnSpc>
                <a:spcPts val="2750"/>
              </a:lnSpc>
              <a:buNone/>
            </a:pPr>
            <a:r>
              <a:rPr lang="en-US" sz="1700" dirty="0">
                <a:solidFill>
                  <a:srgbClr val="3B3535"/>
                </a:solidFill>
                <a:latin typeface="Roboto Light" pitchFamily="34" charset="0"/>
                <a:ea typeface="Roboto Light" pitchFamily="34" charset="-122"/>
                <a:cs typeface="Roboto Light" pitchFamily="34" charset="-120"/>
              </a:rPr>
              <a:t>A collection of six games designed to provide hours of entertainment.</a:t>
            </a:r>
            <a:endParaRPr lang="en-US" sz="1700" dirty="0"/>
          </a:p>
        </p:txBody>
      </p:sp>
      <p:sp>
        <p:nvSpPr>
          <p:cNvPr id="8" name="Shape 4"/>
          <p:cNvSpPr/>
          <p:nvPr/>
        </p:nvSpPr>
        <p:spPr>
          <a:xfrm>
            <a:off x="4682371" y="2825353"/>
            <a:ext cx="496729" cy="496729"/>
          </a:xfrm>
          <a:prstGeom prst="roundRect">
            <a:avLst>
              <a:gd name="adj" fmla="val 6667"/>
            </a:avLst>
          </a:prstGeom>
          <a:solidFill>
            <a:srgbClr val="F3E8E8"/>
          </a:solidFill>
          <a:ln/>
        </p:spPr>
      </p:sp>
      <p:pic>
        <p:nvPicPr>
          <p:cNvPr id="9" name="Image 2" descr="preencoded.png"/>
          <p:cNvPicPr>
            <a:picLocks noChangeAspect="1"/>
          </p:cNvPicPr>
          <p:nvPr/>
        </p:nvPicPr>
        <p:blipFill>
          <a:blip r:embed="rId5"/>
          <a:stretch>
            <a:fillRect/>
          </a:stretch>
        </p:blipFill>
        <p:spPr>
          <a:xfrm>
            <a:off x="4774942" y="2878931"/>
            <a:ext cx="311587" cy="389573"/>
          </a:xfrm>
          <a:prstGeom prst="rect">
            <a:avLst/>
          </a:prstGeom>
        </p:spPr>
      </p:pic>
      <p:sp>
        <p:nvSpPr>
          <p:cNvPr id="10" name="Text 5"/>
          <p:cNvSpPr/>
          <p:nvPr/>
        </p:nvSpPr>
        <p:spPr>
          <a:xfrm>
            <a:off x="5399842" y="2825353"/>
            <a:ext cx="2597348" cy="324683"/>
          </a:xfrm>
          <a:prstGeom prst="rect">
            <a:avLst/>
          </a:prstGeom>
          <a:noFill/>
          <a:ln/>
        </p:spPr>
        <p:txBody>
          <a:bodyPr wrap="none" lIns="0" tIns="0" rIns="0" bIns="0" rtlCol="0" anchor="t"/>
          <a:lstStyle/>
          <a:p>
            <a:pPr marL="0" indent="0" algn="l">
              <a:lnSpc>
                <a:spcPts val="2550"/>
              </a:lnSpc>
              <a:buNone/>
            </a:pPr>
            <a:r>
              <a:rPr lang="en-US" sz="2000" dirty="0">
                <a:solidFill>
                  <a:srgbClr val="3B3535"/>
                </a:solidFill>
                <a:latin typeface="Red Hat Text" pitchFamily="34" charset="0"/>
                <a:ea typeface="Red Hat Text" pitchFamily="34" charset="-122"/>
                <a:cs typeface="Red Hat Text" pitchFamily="34" charset="-120"/>
              </a:rPr>
              <a:t>Simple and Intuitive</a:t>
            </a:r>
            <a:endParaRPr lang="en-US" sz="2000" dirty="0"/>
          </a:p>
        </p:txBody>
      </p:sp>
      <p:sp>
        <p:nvSpPr>
          <p:cNvPr id="11" name="Text 6"/>
          <p:cNvSpPr/>
          <p:nvPr/>
        </p:nvSpPr>
        <p:spPr>
          <a:xfrm>
            <a:off x="5399842" y="3282434"/>
            <a:ext cx="2971443" cy="1059418"/>
          </a:xfrm>
          <a:prstGeom prst="rect">
            <a:avLst/>
          </a:prstGeom>
          <a:noFill/>
          <a:ln/>
        </p:spPr>
        <p:txBody>
          <a:bodyPr wrap="square" lIns="0" tIns="0" rIns="0" bIns="0" rtlCol="0" anchor="t"/>
          <a:lstStyle/>
          <a:p>
            <a:pPr marL="0" indent="0" algn="l">
              <a:lnSpc>
                <a:spcPts val="2750"/>
              </a:lnSpc>
              <a:buNone/>
            </a:pPr>
            <a:r>
              <a:rPr lang="en-US" sz="1700" dirty="0">
                <a:solidFill>
                  <a:srgbClr val="3B3535"/>
                </a:solidFill>
                <a:latin typeface="Roboto Light" pitchFamily="34" charset="0"/>
                <a:ea typeface="Roboto Light" pitchFamily="34" charset="-122"/>
                <a:cs typeface="Roboto Light" pitchFamily="34" charset="-120"/>
              </a:rPr>
              <a:t>Easy-to-use interface ensures a seamless gaming experience.</a:t>
            </a:r>
            <a:endParaRPr lang="en-US" sz="1700" dirty="0"/>
          </a:p>
        </p:txBody>
      </p:sp>
      <p:sp>
        <p:nvSpPr>
          <p:cNvPr id="12" name="Shape 7"/>
          <p:cNvSpPr/>
          <p:nvPr/>
        </p:nvSpPr>
        <p:spPr>
          <a:xfrm>
            <a:off x="772716" y="4810958"/>
            <a:ext cx="496729" cy="496729"/>
          </a:xfrm>
          <a:prstGeom prst="roundRect">
            <a:avLst>
              <a:gd name="adj" fmla="val 6667"/>
            </a:avLst>
          </a:prstGeom>
          <a:solidFill>
            <a:srgbClr val="F3E8E8"/>
          </a:solidFill>
          <a:ln/>
        </p:spPr>
      </p:sp>
      <p:pic>
        <p:nvPicPr>
          <p:cNvPr id="13" name="Image 3" descr="preencoded.png"/>
          <p:cNvPicPr>
            <a:picLocks noChangeAspect="1"/>
          </p:cNvPicPr>
          <p:nvPr/>
        </p:nvPicPr>
        <p:blipFill>
          <a:blip r:embed="rId6"/>
          <a:stretch>
            <a:fillRect/>
          </a:stretch>
        </p:blipFill>
        <p:spPr>
          <a:xfrm>
            <a:off x="865287" y="4864537"/>
            <a:ext cx="311587" cy="389573"/>
          </a:xfrm>
          <a:prstGeom prst="rect">
            <a:avLst/>
          </a:prstGeom>
        </p:spPr>
      </p:pic>
      <p:sp>
        <p:nvSpPr>
          <p:cNvPr id="14" name="Text 8"/>
          <p:cNvSpPr/>
          <p:nvPr/>
        </p:nvSpPr>
        <p:spPr>
          <a:xfrm>
            <a:off x="1490186" y="4810958"/>
            <a:ext cx="2597348" cy="324683"/>
          </a:xfrm>
          <a:prstGeom prst="rect">
            <a:avLst/>
          </a:prstGeom>
          <a:noFill/>
          <a:ln/>
        </p:spPr>
        <p:txBody>
          <a:bodyPr wrap="none" lIns="0" tIns="0" rIns="0" bIns="0" rtlCol="0" anchor="t"/>
          <a:lstStyle/>
          <a:p>
            <a:pPr marL="0" indent="0" algn="l">
              <a:lnSpc>
                <a:spcPts val="2550"/>
              </a:lnSpc>
              <a:buNone/>
            </a:pPr>
            <a:r>
              <a:rPr lang="en-US" sz="2000" dirty="0">
                <a:solidFill>
                  <a:srgbClr val="3B3535"/>
                </a:solidFill>
                <a:latin typeface="Red Hat Text" pitchFamily="34" charset="0"/>
                <a:ea typeface="Red Hat Text" pitchFamily="34" charset="-122"/>
                <a:cs typeface="Red Hat Text" pitchFamily="34" charset="-120"/>
              </a:rPr>
              <a:t>Java-Based Logic</a:t>
            </a:r>
            <a:endParaRPr lang="en-US" sz="2000" dirty="0"/>
          </a:p>
        </p:txBody>
      </p:sp>
      <p:sp>
        <p:nvSpPr>
          <p:cNvPr id="15" name="Text 9"/>
          <p:cNvSpPr/>
          <p:nvPr/>
        </p:nvSpPr>
        <p:spPr>
          <a:xfrm>
            <a:off x="1490186" y="5268039"/>
            <a:ext cx="6881098" cy="353139"/>
          </a:xfrm>
          <a:prstGeom prst="rect">
            <a:avLst/>
          </a:prstGeom>
          <a:noFill/>
          <a:ln/>
        </p:spPr>
        <p:txBody>
          <a:bodyPr wrap="none" lIns="0" tIns="0" rIns="0" bIns="0" rtlCol="0" anchor="t"/>
          <a:lstStyle/>
          <a:p>
            <a:pPr marL="0" indent="0" algn="l">
              <a:lnSpc>
                <a:spcPts val="2750"/>
              </a:lnSpc>
              <a:buNone/>
            </a:pPr>
            <a:r>
              <a:rPr lang="en-US" sz="1700" dirty="0">
                <a:solidFill>
                  <a:srgbClr val="3B3535"/>
                </a:solidFill>
                <a:latin typeface="Roboto Light" pitchFamily="34" charset="0"/>
                <a:ea typeface="Roboto Light" pitchFamily="34" charset="-122"/>
                <a:cs typeface="Roboto Light" pitchFamily="34" charset="-120"/>
              </a:rPr>
              <a:t>Smooth gameplay powered by efficient Java implementation.</a:t>
            </a:r>
            <a:endParaRPr lang="en-US" sz="1700" dirty="0"/>
          </a:p>
        </p:txBody>
      </p:sp>
      <p:sp>
        <p:nvSpPr>
          <p:cNvPr id="16" name="Text 10"/>
          <p:cNvSpPr/>
          <p:nvPr/>
        </p:nvSpPr>
        <p:spPr>
          <a:xfrm>
            <a:off x="772716" y="5869543"/>
            <a:ext cx="7598569" cy="1412557"/>
          </a:xfrm>
          <a:prstGeom prst="rect">
            <a:avLst/>
          </a:prstGeom>
          <a:noFill/>
          <a:ln/>
        </p:spPr>
        <p:txBody>
          <a:bodyPr wrap="square" lIns="0" tIns="0" rIns="0" bIns="0" rtlCol="0" anchor="t"/>
          <a:lstStyle/>
          <a:p>
            <a:pPr marL="0" indent="0" algn="l">
              <a:lnSpc>
                <a:spcPts val="2750"/>
              </a:lnSpc>
              <a:buNone/>
            </a:pPr>
            <a:r>
              <a:rPr lang="en-US" sz="1700" dirty="0">
                <a:solidFill>
                  <a:srgbClr val="3B3535"/>
                </a:solidFill>
                <a:latin typeface="Roboto Light" pitchFamily="34" charset="0"/>
                <a:ea typeface="Roboto Light" pitchFamily="34" charset="-122"/>
                <a:cs typeface="Roboto Light" pitchFamily="34" charset="-120"/>
              </a:rPr>
              <a:t>The </a:t>
            </a:r>
            <a:r>
              <a:rPr lang="en-US" sz="1700" b="1" dirty="0">
                <a:solidFill>
                  <a:srgbClr val="3B3535"/>
                </a:solidFill>
                <a:latin typeface="Roboto Light" pitchFamily="34" charset="0"/>
                <a:ea typeface="Roboto Light" pitchFamily="34" charset="-122"/>
                <a:cs typeface="Roboto Light" pitchFamily="34" charset="-120"/>
              </a:rPr>
              <a:t>Fun Games </a:t>
            </a:r>
            <a:r>
              <a:rPr lang="en-US" sz="1700" dirty="0">
                <a:solidFill>
                  <a:srgbClr val="3B3535"/>
                </a:solidFill>
                <a:latin typeface="Roboto Light" pitchFamily="34" charset="0"/>
                <a:ea typeface="Roboto Light" pitchFamily="34" charset="-122"/>
                <a:cs typeface="Roboto Light" pitchFamily="34" charset="-120"/>
              </a:rPr>
              <a:t>offers a diverse range of interactive experiences, all within a single app. With its intuitive design and Java-based game logic, the collection provides smooth and engaging gameplay.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1004</Words>
  <Application>Microsoft Office PowerPoint</Application>
  <PresentationFormat>Custom</PresentationFormat>
  <Paragraphs>113</Paragraphs>
  <Slides>15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Red Hat Text</vt:lpstr>
      <vt:lpstr>Nirmala UI</vt:lpstr>
      <vt:lpstr>Nirmala UI Semilight</vt:lpstr>
      <vt:lpstr>Arial</vt:lpstr>
      <vt:lpstr>Aptos</vt:lpstr>
      <vt:lpstr>Roboto Light</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Bansil Pabari</cp:lastModifiedBy>
  <cp:revision>9</cp:revision>
  <cp:lastPrinted>2025-03-19T17:30:53Z</cp:lastPrinted>
  <dcterms:created xsi:type="dcterms:W3CDTF">2025-03-19T13:50:30Z</dcterms:created>
  <dcterms:modified xsi:type="dcterms:W3CDTF">2025-03-27T05:05:48Z</dcterms:modified>
</cp:coreProperties>
</file>